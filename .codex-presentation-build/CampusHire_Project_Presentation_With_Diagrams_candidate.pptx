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f7bd0d17504c2c" /><Relationship Type="http://schemas.openxmlformats.org/officeDocument/2006/relationships/extended-properties" Target="/docProps/app.xml" Id="R4366f70cc2aa4e3a" /><Relationship Type="http://schemas.openxmlformats.org/officeDocument/2006/relationships/officeDocument" Target="/ppt/presentation.xml" Id="Rcc9ac9b1f75441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8e5deec2a64fba"/>
  </p:sldMasterIdLst>
  <p:notesMasterIdLst>
    <p:notesMasterId xmlns:r="http://schemas.openxmlformats.org/officeDocument/2006/relationships" r:id="R01f0a350610c407a"/>
  </p:notesMasterIdLst>
  <p:sldIdLst>
    <p:sldId xmlns:r="http://schemas.openxmlformats.org/officeDocument/2006/relationships" id="256" r:id="R8540a156337042d0"/>
    <p:sldId xmlns:r="http://schemas.openxmlformats.org/officeDocument/2006/relationships" id="257" r:id="R0b4af3930184479f"/>
    <p:sldId xmlns:r="http://schemas.openxmlformats.org/officeDocument/2006/relationships" id="258" r:id="R80f5253126344b7d"/>
    <p:sldId xmlns:r="http://schemas.openxmlformats.org/officeDocument/2006/relationships" id="259" r:id="R40d871a084b043ab"/>
    <p:sldId xmlns:r="http://schemas.openxmlformats.org/officeDocument/2006/relationships" id="260" r:id="R03d141bc70394656"/>
    <p:sldId xmlns:r="http://schemas.openxmlformats.org/officeDocument/2006/relationships" id="261" r:id="Rf269d35e578e462d"/>
    <p:sldId xmlns:r="http://schemas.openxmlformats.org/officeDocument/2006/relationships" id="262" r:id="Rf7a9383ff8a64202"/>
    <p:sldId xmlns:r="http://schemas.openxmlformats.org/officeDocument/2006/relationships" id="263" r:id="Rba25ef5eda344fb3"/>
    <p:sldId xmlns:r="http://schemas.openxmlformats.org/officeDocument/2006/relationships" id="264" r:id="Rfe914c6ae5584548"/>
    <p:sldId xmlns:r="http://schemas.openxmlformats.org/officeDocument/2006/relationships" id="265" r:id="R3c19f91212074548"/>
    <p:sldId xmlns:r="http://schemas.openxmlformats.org/officeDocument/2006/relationships" id="266" r:id="Re31235b261c241ad"/>
    <p:sldId xmlns:r="http://schemas.openxmlformats.org/officeDocument/2006/relationships" id="267" r:id="Re01453c9c4a34d48"/>
    <p:sldId xmlns:r="http://schemas.openxmlformats.org/officeDocument/2006/relationships" id="268" r:id="Re82a15cca33d46fc"/>
    <p:sldId xmlns:r="http://schemas.openxmlformats.org/officeDocument/2006/relationships" id="269" r:id="Rce32ab51ad044393"/>
    <p:sldId xmlns:r="http://schemas.openxmlformats.org/officeDocument/2006/relationships" id="270" r:id="Rf743e55ca46f45ef"/>
    <p:sldId xmlns:r="http://schemas.openxmlformats.org/officeDocument/2006/relationships" id="271" r:id="R9ed69d88eba74bb1"/>
    <p:sldId xmlns:r="http://schemas.openxmlformats.org/officeDocument/2006/relationships" id="272" r:id="Rcce19403be7446f5"/>
    <p:sldId xmlns:r="http://schemas.openxmlformats.org/officeDocument/2006/relationships" id="273" r:id="R5091bb2890594229"/>
    <p:sldId xmlns:r="http://schemas.openxmlformats.org/officeDocument/2006/relationships" id="274" r:id="R4393597ed46143a3"/>
    <p:sldId xmlns:r="http://schemas.openxmlformats.org/officeDocument/2006/relationships" id="275" r:id="R85f9ecf0109e4651"/>
    <p:sldId xmlns:r="http://schemas.openxmlformats.org/officeDocument/2006/relationships" id="276" r:id="R11d07b743e8a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702a361b7140af" /><Relationship Type="http://schemas.openxmlformats.org/officeDocument/2006/relationships/slideMaster" Target="/ppt/slideMasters/slideMaster1.xml" Id="R8d8e5deec2a64fba" /><Relationship Type="http://schemas.openxmlformats.org/officeDocument/2006/relationships/notesMaster" Target="/ppt/notesMasters/notesMaster1.xml" Id="R01f0a350610c407a" /><Relationship Type="http://schemas.openxmlformats.org/officeDocument/2006/relationships/presProps" Target="/ppt/presProps.xml" Id="R6c1879be9c074893" /><Relationship Type="http://schemas.openxmlformats.org/officeDocument/2006/relationships/tableStyles" Target="/ppt/tableStyles.xml" Id="R22b9e73433fe4ffa" /><Relationship Type="http://schemas.openxmlformats.org/officeDocument/2006/relationships/slide" Target="/ppt/slides/slide1.xml" Id="R8540a156337042d0" /><Relationship Type="http://schemas.openxmlformats.org/officeDocument/2006/relationships/slide" Target="/ppt/slides/slide2.xml" Id="R0b4af3930184479f" /><Relationship Type="http://schemas.openxmlformats.org/officeDocument/2006/relationships/slide" Target="/ppt/slides/slide3.xml" Id="R80f5253126344b7d" /><Relationship Type="http://schemas.openxmlformats.org/officeDocument/2006/relationships/slide" Target="/ppt/slides/slide4.xml" Id="R40d871a084b043ab" /><Relationship Type="http://schemas.openxmlformats.org/officeDocument/2006/relationships/slide" Target="/ppt/slides/slide5.xml" Id="R03d141bc70394656" /><Relationship Type="http://schemas.openxmlformats.org/officeDocument/2006/relationships/slide" Target="/ppt/slides/slide6.xml" Id="Rf269d35e578e462d" /><Relationship Type="http://schemas.openxmlformats.org/officeDocument/2006/relationships/slide" Target="/ppt/slides/slide7.xml" Id="Rf7a9383ff8a64202" /><Relationship Type="http://schemas.openxmlformats.org/officeDocument/2006/relationships/slide" Target="/ppt/slides/slide8.xml" Id="Rba25ef5eda344fb3" /><Relationship Type="http://schemas.openxmlformats.org/officeDocument/2006/relationships/slide" Target="/ppt/slides/slide9.xml" Id="Rfe914c6ae5584548" /><Relationship Type="http://schemas.openxmlformats.org/officeDocument/2006/relationships/slide" Target="/ppt/slides/slide10.xml" Id="R3c19f91212074548" /><Relationship Type="http://schemas.openxmlformats.org/officeDocument/2006/relationships/slide" Target="/ppt/slides/slide11.xml" Id="Re31235b261c241ad" /><Relationship Type="http://schemas.openxmlformats.org/officeDocument/2006/relationships/slide" Target="/ppt/slides/slide12.xml" Id="Re01453c9c4a34d48" /><Relationship Type="http://schemas.openxmlformats.org/officeDocument/2006/relationships/slide" Target="/ppt/slides/slide13.xml" Id="Re82a15cca33d46fc" /><Relationship Type="http://schemas.openxmlformats.org/officeDocument/2006/relationships/slide" Target="/ppt/slides/slide14.xml" Id="Rce32ab51ad044393" /><Relationship Type="http://schemas.openxmlformats.org/officeDocument/2006/relationships/slide" Target="/ppt/slides/slide15.xml" Id="Rf743e55ca46f45ef" /><Relationship Type="http://schemas.openxmlformats.org/officeDocument/2006/relationships/slide" Target="/ppt/slides/slide16.xml" Id="R9ed69d88eba74bb1" /><Relationship Type="http://schemas.openxmlformats.org/officeDocument/2006/relationships/slide" Target="/ppt/slides/slide17.xml" Id="Rcce19403be7446f5" /><Relationship Type="http://schemas.openxmlformats.org/officeDocument/2006/relationships/slide" Target="/ppt/slides/slide18.xml" Id="R5091bb2890594229" /><Relationship Type="http://schemas.openxmlformats.org/officeDocument/2006/relationships/slide" Target="/ppt/slides/slide19.xml" Id="R4393597ed46143a3" /><Relationship Type="http://schemas.openxmlformats.org/officeDocument/2006/relationships/slide" Target="/ppt/slides/slide20.xml" Id="R85f9ecf0109e4651" /><Relationship Type="http://schemas.openxmlformats.org/officeDocument/2006/relationships/slide" Target="/ppt/slides/slide21.xml" Id="R11d07b743e8a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3e093dc90b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cef3db89d246f7" /><Relationship Type="http://schemas.openxmlformats.org/officeDocument/2006/relationships/notesMaster" Target="/ppt/notesMasters/notesMaster1.xml" Id="Rc88a238404384b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6cec9933cf4f40" /><Relationship Type="http://schemas.openxmlformats.org/officeDocument/2006/relationships/notesMaster" Target="/ppt/notesMasters/notesMaster1.xml" Id="R043cc3b633ec45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d03489c38d4952" /><Relationship Type="http://schemas.openxmlformats.org/officeDocument/2006/relationships/notesMaster" Target="/ppt/notesMasters/notesMaster1.xml" Id="Radc2c0b11b5242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d9a7d2ae814593" /><Relationship Type="http://schemas.openxmlformats.org/officeDocument/2006/relationships/notesMaster" Target="/ppt/notesMasters/notesMaster1.xml" Id="R99058acd0a2346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51ca0e00a14382" /><Relationship Type="http://schemas.openxmlformats.org/officeDocument/2006/relationships/notesMaster" Target="/ppt/notesMasters/notesMaster1.xml" Id="Rad317b44e03649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f50587fab940e4" /><Relationship Type="http://schemas.openxmlformats.org/officeDocument/2006/relationships/notesMaster" Target="/ppt/notesMasters/notesMaster1.xml" Id="R512af23b60544b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360a214a4047c9" /><Relationship Type="http://schemas.openxmlformats.org/officeDocument/2006/relationships/notesMaster" Target="/ppt/notesMasters/notesMaster1.xml" Id="Rc3990032a6ed4f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e8811f57214654" /><Relationship Type="http://schemas.openxmlformats.org/officeDocument/2006/relationships/notesMaster" Target="/ppt/notesMasters/notesMaster1.xml" Id="R7a39b03e7c3c4e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ca1415e931423d" /><Relationship Type="http://schemas.openxmlformats.org/officeDocument/2006/relationships/notesMaster" Target="/ppt/notesMasters/notesMaster1.xml" Id="R9b4b5dffa3704d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1ed9fb686b4159" /><Relationship Type="http://schemas.openxmlformats.org/officeDocument/2006/relationships/notesMaster" Target="/ppt/notesMasters/notesMaster1.xml" Id="R163c8ac30e1d48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b2dd2e9c9c4b3c" /><Relationship Type="http://schemas.openxmlformats.org/officeDocument/2006/relationships/notesMaster" Target="/ppt/notesMasters/notesMaster1.xml" Id="R2b84db31881d47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aa67440ab74932" /><Relationship Type="http://schemas.openxmlformats.org/officeDocument/2006/relationships/notesMaster" Target="/ppt/notesMasters/notesMaster1.xml" Id="R2e45f0f318c646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c93a37f9b946ff" /><Relationship Type="http://schemas.openxmlformats.org/officeDocument/2006/relationships/notesMaster" Target="/ppt/notesMasters/notesMaster1.xml" Id="Rf8f4dac5a89843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d5011208344eb4" /><Relationship Type="http://schemas.openxmlformats.org/officeDocument/2006/relationships/notesMaster" Target="/ppt/notesMasters/notesMaster1.xml" Id="Rc2efd4abcb4547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a2284900af4fa7" /><Relationship Type="http://schemas.openxmlformats.org/officeDocument/2006/relationships/notesMaster" Target="/ppt/notesMasters/notesMaster1.xml" Id="R487c6debc45e44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3084c8f3f44bc1" /><Relationship Type="http://schemas.openxmlformats.org/officeDocument/2006/relationships/notesMaster" Target="/ppt/notesMasters/notesMaster1.xml" Id="R0900706d1d3245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b119b2cc4e4384" /><Relationship Type="http://schemas.openxmlformats.org/officeDocument/2006/relationships/notesMaster" Target="/ppt/notesMasters/notesMaster1.xml" Id="R6465da2588234f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72a0190cdb4e8a" /><Relationship Type="http://schemas.openxmlformats.org/officeDocument/2006/relationships/notesMaster" Target="/ppt/notesMasters/notesMaster1.xml" Id="Rf3a95ca9b0ad43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01d2b394a54fa5" /><Relationship Type="http://schemas.openxmlformats.org/officeDocument/2006/relationships/notesMaster" Target="/ppt/notesMasters/notesMaster1.xml" Id="R4ce47c72e0ec40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89108c2f0e436c" /><Relationship Type="http://schemas.openxmlformats.org/officeDocument/2006/relationships/notesMaster" Target="/ppt/notesMasters/notesMaster1.xml" Id="R29510044e467466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31218278014f39" /><Relationship Type="http://schemas.openxmlformats.org/officeDocument/2006/relationships/notesMaster" Target="/ppt/notesMasters/notesMaster1.xml" Id="R4d3c77cf170345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CampusHire centralizes the placement journey for students and the university placement office. Source: repository README, backend controllers and current frontend structures.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system as a shared source of truth. Student and staff experiences use separate clients but the same backend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project motivation without claiming measured performance improvements. These are workflow problems the system is designed to address.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objectives summarize the implemented direction and the current recruitment-round milestone.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is qualitative and based on the project’s stated workflow goals. It does not claim measured improvements.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Role names are persisted as UTPO, DTPO and STUDENT. UTPO has no department assignment; DTPO requires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Versions verified in the repository include Java 21 and Spring Boot 3.5.6. PostgreSQL is configured through environment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actual repository structure: Flutter and Angular clients call the Spring Boot API, which persists to PostgreSQL.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use case view reflects the implemented actors and endpoints. Students own profile and application actions. DTPOs operate inside their assigned department. UTPOs have university-wide scope and coordinator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activity flow shows two connected journeys. Student application is gated by published status, eligibility and the unique student-drive constraint. After applications exist, staff manage ordered rounds and publish outcomes for students to see.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class diagram uses the actual domain entities and relationships. UserAccount optionally has a Student profile; a PlacementDrive belongs to a company and academic year, may be department-scoped, and is connected to applications, programs and recruitment rounds.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Modules are derived from controllers, services, entity mappings and the two frontend clients.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table names include users, departments, students, companies, placement_drives, placement_applications, placement_drive_rounds and placement_round_results. The diagram emphasizes the placement relationships rather than every column.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reflects the implemented compatibility path: student enrollment login is preserved while staff login uses identifier/email and does not require a student profile.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backend distinguishes DRAFT, PUBLISHED, CLOSED, CANCELLED and ARCHIVED statuses. Students do not see drafts.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screens are Flutter-based. The backend remains the source of truth for eligibility and duplicate-application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source includes the V5 migration and RecruitmentService. Database application and runtime validation remain a deployment step, not a claim of completion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during review: DTPO scope is enforced server-side. The current branch adds round controls but the migration still needs a controlled database rollout.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reflect the current repository checks. The full backend suite is not counted as passed because the environment blocks Mockito’s Byte Buddy agent attachment.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are based on the current repository state and verification outputs. Separate source presence from live operational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value: a shared, secure and traceable placement workflow. Invite questions about architecture, authorization and the round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1a706084c4b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5364098ce45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9e005dd584e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67ba0c6f941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47f3568944a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f0aebd8e743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53375E-1EB1-4CD8-8A24-33BD9154D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DFCCFF-E92F-4812-9122-4F7C875739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A78E51-F2F1-4143-88FE-244EC83DA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A0D364-6E9C-4D89-80CC-C144DC9FF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9391DA-2003-44EA-9AC1-1B06E2EB7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C67D3F-9CDF-41AD-819C-EE65AB8B1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CBA5AF-CC7E-4839-8BA7-F5872EA2D2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4EFAE6-65AA-4ECC-AA5D-3A4F1E1E08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D24D72-6AA0-4140-9B01-2FCA07A4A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7C9EF4-0047-4ABB-BC8D-171CED9CAA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367545c8d4f92" /><Relationship Type="http://schemas.openxmlformats.org/officeDocument/2006/relationships/slideLayout" Target="/ppt/slideLayouts/slideLayout1.xml" Id="Rea96d64f76684bb8" /><Relationship Type="http://schemas.openxmlformats.org/officeDocument/2006/relationships/slideLayout" Target="/ppt/slideLayouts/slideLayout2.xml" Id="R087f5ceb8cd84aa8" /><Relationship Type="http://schemas.openxmlformats.org/officeDocument/2006/relationships/slideLayout" Target="/ppt/slideLayouts/slideLayout3.xml" Id="R3e969c0f98004c7a" /><Relationship Type="http://schemas.openxmlformats.org/officeDocument/2006/relationships/slideLayout" Target="/ppt/slideLayouts/slideLayout4.xml" Id="R7ffd62fbbf8f4c32" /><Relationship Type="http://schemas.openxmlformats.org/officeDocument/2006/relationships/slideLayout" Target="/ppt/slideLayouts/slideLayout5.xml" Id="Rd181b6c78dc94a83" /><Relationship Type="http://schemas.openxmlformats.org/officeDocument/2006/relationships/slideLayout" Target="/ppt/slideLayouts/slideLayout6.xml" Id="Rfc792cf7c2cd4d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96d64f76684bb8"/>
    <p:sldLayoutId xmlns:r="http://schemas.openxmlformats.org/officeDocument/2006/relationships" id="2147483650" r:id="R087f5ceb8cd84aa8"/>
    <p:sldLayoutId xmlns:r="http://schemas.openxmlformats.org/officeDocument/2006/relationships" id="2147483651" r:id="R3e969c0f98004c7a"/>
    <p:sldLayoutId xmlns:r="http://schemas.openxmlformats.org/officeDocument/2006/relationships" id="2147483652" r:id="R7ffd62fbbf8f4c32"/>
    <p:sldLayoutId xmlns:r="http://schemas.openxmlformats.org/officeDocument/2006/relationships" id="2147483653" r:id="Rd181b6c78dc94a83"/>
    <p:sldLayoutId xmlns:r="http://schemas.openxmlformats.org/officeDocument/2006/relationships" id="2147483654" r:id="Rfc792cf7c2cd4d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a28337a294494" /><Relationship Type="http://schemas.openxmlformats.org/officeDocument/2006/relationships/image" Target="/ppt/media/image.jpeg" Id="Rdfcd19797d8f460f" /><Relationship Type="http://schemas.openxmlformats.org/officeDocument/2006/relationships/image" Target="/ppt/media/image2.jpeg" Id="Rbc0f1edf87a24467" /><Relationship Type="http://schemas.openxmlformats.org/officeDocument/2006/relationships/notesSlide" Target="/ppt/notesSlides/notesSlide1.xml" Id="R38196e8f896a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d64bb7c30443a" /><Relationship Type="http://schemas.openxmlformats.org/officeDocument/2006/relationships/notesSlide" Target="/ppt/notesSlides/notesSlide2.xml" Id="R7c468cde2fab46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d8f05741b4d19" /><Relationship Type="http://schemas.openxmlformats.org/officeDocument/2006/relationships/notesSlide" Target="/ppt/notesSlides/notesSlide3.xml" Id="Ref5592b25f04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ce581783b4ed8" /><Relationship Type="http://schemas.openxmlformats.org/officeDocument/2006/relationships/notesSlide" Target="/ppt/notesSlides/notesSlide4.xml" Id="R848248c727e84f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6870bad8f4b8b" /><Relationship Type="http://schemas.openxmlformats.org/officeDocument/2006/relationships/notesSlide" Target="/ppt/notesSlides/notesSlide5.xml" Id="R171672fff20d43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6d27d69e204441" /><Relationship Type="http://schemas.openxmlformats.org/officeDocument/2006/relationships/notesSlide" Target="/ppt/notesSlides/notesSlide6.xml" Id="R38954804576049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308bdf21840fd" /><Relationship Type="http://schemas.openxmlformats.org/officeDocument/2006/relationships/notesSlide" Target="/ppt/notesSlides/notesSlide7.xml" Id="R4c14c7a8907e43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5d1aa301c4c9e" /><Relationship Type="http://schemas.openxmlformats.org/officeDocument/2006/relationships/notesSlide" Target="/ppt/notesSlides/notesSlide8.xml" Id="Rd228214241784b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5a23c9cbc435a" /><Relationship Type="http://schemas.openxmlformats.org/officeDocument/2006/relationships/notesSlide" Target="/ppt/notesSlides/notesSlide9.xml" Id="Rcc75e726251748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11063233a4e3b" /><Relationship Type="http://schemas.openxmlformats.org/officeDocument/2006/relationships/notesSlide" Target="/ppt/notesSlides/notesSlide10.xml" Id="Ra9cd0433556e4f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ccbd5b787347b0" /><Relationship Type="http://schemas.openxmlformats.org/officeDocument/2006/relationships/notesSlide" Target="/ppt/notesSlides/notesSlide11.xml" Id="Re57844092e234e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912925af64c11" /><Relationship Type="http://schemas.openxmlformats.org/officeDocument/2006/relationships/notesSlide" Target="/ppt/notesSlides/notesSlide12.xml" Id="R717efa220bc943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47ad02f6e4697" /><Relationship Type="http://schemas.openxmlformats.org/officeDocument/2006/relationships/notesSlide" Target="/ppt/notesSlides/notesSlide13.xml" Id="R0f9a0c3b322b4c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a342d811d46b3" /><Relationship Type="http://schemas.openxmlformats.org/officeDocument/2006/relationships/notesSlide" Target="/ppt/notesSlides/notesSlide14.xml" Id="R1062db9ce3c743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54cf7d3eb4efd" /><Relationship Type="http://schemas.openxmlformats.org/officeDocument/2006/relationships/notesSlide" Target="/ppt/notesSlides/notesSlide15.xml" Id="Rbd5dea8ec1d44f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09249cc0f49a1" /><Relationship Type="http://schemas.openxmlformats.org/officeDocument/2006/relationships/notesSlide" Target="/ppt/notesSlides/notesSlide16.xml" Id="Rccf665b57d144b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93554d82b14ac5" /><Relationship Type="http://schemas.openxmlformats.org/officeDocument/2006/relationships/notesSlide" Target="/ppt/notesSlides/notesSlide17.xml" Id="R017abf02070043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26b05401e4363" /><Relationship Type="http://schemas.openxmlformats.org/officeDocument/2006/relationships/notesSlide" Target="/ppt/notesSlides/notesSlide18.xml" Id="R762efd6028e645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5e9d0b5614ad3" /><Relationship Type="http://schemas.openxmlformats.org/officeDocument/2006/relationships/notesSlide" Target="/ppt/notesSlides/notesSlide19.xml" Id="Rc5fc5e9d441843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95b849949b4e57" /><Relationship Type="http://schemas.openxmlformats.org/officeDocument/2006/relationships/notesSlide" Target="/ppt/notesSlides/notesSlide20.xml" Id="R81898431dc73456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4e4ce79954f9e" /><Relationship Type="http://schemas.openxmlformats.org/officeDocument/2006/relationships/image" Target="/ppt/media/image3.jpeg" Id="Rd8a662d4abb94bd5" /><Relationship Type="http://schemas.openxmlformats.org/officeDocument/2006/relationships/image" Target="/ppt/media/image4.jpeg" Id="R349a0f2594564d9a" /><Relationship Type="http://schemas.openxmlformats.org/officeDocument/2006/relationships/notesSlide" Target="/ppt/notesSlides/notesSlide21.xml" Id="R8b13bf56231d4f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FA4C4-7394-4A5A-9774-8896093D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E3208-9949-44DE-81D5-9B4A8F91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AFA73-ABA4-49FC-93D5-1369612722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d19797d8f460f"/>
          <a:stretch xmlns:a="http://schemas.openxmlformats.org/drawingml/2006/main"/>
        </p:blipFill>
        <p:spPr>
          <a:xfrm xmlns:a="http://schemas.openxmlformats.org/drawingml/2006/main">
            <a:off x="781050" y="495300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AC6E2-BAC7-47EB-9652-DAD572C5F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f1edf87a24467"/>
          <a:stretch xmlns:a="http://schemas.openxmlformats.org/drawingml/2006/main"/>
        </p:blipFill>
        <p:spPr>
          <a:xfrm xmlns:a="http://schemas.openxmlformats.org/drawingml/2006/main">
            <a:off x="2000250" y="4953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49DD9-6347-4CBA-8CD1-3B8E6765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CAMPUSHIRE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AAE12-85C8-44E3-A352-EDCEF97D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Placement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6468F-4772-4DA5-9ADE-00F9C2D6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7E8F7"/>
                </a:solidFill>
                <a:latin typeface="Arial"/>
                <a:ea typeface="Arial"/>
                <a:cs typeface="Arial"/>
              </a:rPr>
              <a:t>A unified platform for student placement discovery, coordination, applications and recruitment progress.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0AD39-4B5E-4C48-9BAC-F1D10211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CHARUSAT University · CMPICA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3BE90-BF16-4D86-A133-5DE996B9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769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A9D7F5"/>
                </a:solidFill>
                <a:latin typeface="Arial"/>
                <a:ea typeface="Arial"/>
                <a:cs typeface="Arial"/>
              </a:rPr>
              <a:t>Project review presentation · 2026–27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D56B2-B45E-46D3-B2BC-84EAB57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62964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E2BF3-739D-4E4F-BBAD-D5A828A7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CFDD9-F3C4-4AFD-A6F1-364F178E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FBD06-1BA2-43B5-89DF-DE42A53B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 coordination in one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1DB03-334D-4951-B0BC-F57AD02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85E73-C6BB-4456-A92D-0C4946E5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28629-6178-4363-BB6E-6083EF44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48F91-4812-4908-9337-5BBC0012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76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CampusHire connects the people, records and decisions involved in campus recruitment.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82428-8EC8-410A-8D6E-6660A87C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AAF16-3DA8-4AD9-89FB-6045CF6D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97C74-A8D5-446E-9290-DB5CDE8D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34517-D52A-4315-B176-1728B056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7813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Discover eligible published drives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Apply once per drive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Track applications and round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9F1A0-D39D-4AE5-9324-A812D5FD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485DF-7DB4-4363-A8DC-5108C3F7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221D7-3DF8-43AD-9659-AA2417DA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432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department TPOs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C9742-5813-4976-A3A2-A6FEC70E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86100"/>
            <a:ext cx="27813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and publish department drives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Manage candidates and recruitment rounds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Keep scope inside the assigned department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4181F-9540-4328-886D-7691D88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0C1AB-E997-4ED1-AF8F-F07D8AC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64097-0C0A-4A9D-AA12-4A38524F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432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 the university TPO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4FD6F-922B-4CC9-B08F-815B2EEC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27813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Coordinate university-wide activity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Manage department coordinators</a:t>
            </a:r>
          </a:p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See cross-department placement data</a:t>
            </a:r>
          </a:p>
        </p:txBody>
      </p:sp>
    </p:spTree>
    <p:extLst>
      <p:ext uri="{BB962C8B-B14F-4D97-AF65-F5344CB8AC3E}">
        <p14:creationId xmlns:p14="http://schemas.microsoft.com/office/powerpoint/2010/main" val="644659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022C9-D930-4072-8ED8-994AC943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92213-2497-459E-87BC-1B1DF195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SYSTEM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B1D8F-D1EF-46E9-ACDA-19EE71F3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placement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3FE82-60B4-4356-8469-BC26EED7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31B56-07E2-4A63-9E4D-F67E40ED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D5ED9-82B4-47E4-B820-1F04E8EC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8A483-D8EB-4CCB-BE6F-AD35C66D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Manual coordination spreads information across messages, spreadsheets and separate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CC8AE-F048-4730-AAF8-B8A52566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37C0F-6B7F-4788-A6AA-0D8CF99A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167AD-7BA0-46F2-B37D-E8CCAD12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Fragmented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B817A-F1F8-475A-A788-864C01B9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Company, drive and student information can drift apart.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B459D-CEFF-4074-A5F7-FED403EA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88EFD-6D11-49F3-99FA-9FFD05D0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2302C-5148-4ACD-9027-EF7C7718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384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Unclear eligibility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0008B-B445-4203-9AC4-A09C3E5A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need a reliable answer about which drives they can see.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81CEA-0650-44DA-B754-A85AB029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18C0B-8E4C-4A38-80DA-E543060D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19419-838B-4A89-91F5-34FC949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Department boundaries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3BD2E-57B1-4689-98E5-AA8350E8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243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DTPO work must remain limited to the assigned department.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0254C-F211-4EFF-9E4D-698B0EEB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333F1-DB0D-4703-9605-6F30E9E2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D8D99-CBFB-497F-9F51-D5C37EEF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386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Slow status updates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4B733D-249F-4732-BE97-9696A84F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244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need visibility into applications and round outcomes.</a:t>
            </a:r>
          </a:p>
        </p:txBody>
      </p:sp>
    </p:spTree>
    <p:extLst>
      <p:ext uri="{BB962C8B-B14F-4D97-AF65-F5344CB8AC3E}">
        <p14:creationId xmlns:p14="http://schemas.microsoft.com/office/powerpoint/2010/main" val="264110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ABD10-BDA1-4654-9549-F05F574C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350F8-99B2-404F-98D3-D4CE135B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08504-A55C-4DAC-82C2-3482048A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E4C1D-51E8-4B6E-A610-F091862C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BF429-82E1-42EB-A44E-46F68E98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B2040-2741-4738-8098-1C672977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24093-402C-4286-9CB2-5BB43D65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50C39-F9F3-40C2-BD45-D9055AAB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D5376-FBB3-4767-8820-AD2EA0E2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01 · Secure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04E75-2791-4563-981F-BC981C63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781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Support students, DTPOs and UTPOs with JWT authentication and role-aware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8A75F-8ABF-4763-A5D3-D7259B2A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A837D-CEBD-4C05-A620-608DE716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19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3E3AC-6FEA-4055-8EE8-92623331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7907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02 · Structured placement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143C8-F0B5-4FAD-A2C4-32FD287F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33600"/>
            <a:ext cx="4781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Keep companies, drives, applications and outcomes connected in PostgreSQL.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F1B6A-B8A5-4989-9B8D-79D454F5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22087-BFCB-40E8-BC08-9A139B05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78B60-E12F-41C8-919A-E95CFDD9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03 · Department-aware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FF84F-4997-4C1C-B8A7-ECB99B90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781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Enforce DTPO scope in backend services, not only in the UI.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133C4-7D0E-4FAE-84DE-D91F43D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29000"/>
            <a:ext cx="5143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A5F2D-5FBE-4AA3-8894-74D318F5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A53E9C-5ADC-48B3-8414-6D2DFB3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004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04 · Transparent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DE17F-BB28-4B37-88D9-AD6FB556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43350"/>
            <a:ext cx="4781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Expose published recruitment results to the student who owns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1742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67A29-1DBE-4504-9D18-A8EE8BAE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C6684-2D75-432F-9817-15FE646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SYSTEM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825D0-AD58-4B30-BC0E-9E8E4B7C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Existing workflow and proposed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98CD4-3260-4CEF-80CA-413A7D90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79170-C3A0-42F7-A2CA-1ADA26F3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73367-F9EE-404C-904A-258FB353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2339D6-481F-499B-A76C-7AF3D5721F7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Fragmented workflow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CampusHire approach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Student discovery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Messages and scattered notices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Published drives filtered by eligibility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Applications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Separate forms or 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One application per student and drive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Staff scope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Manual department filtering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authorization for DTPO and UTPO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Recruitment progress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Status updates are difficult to trace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Ordered rounds with publishable results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Reporting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Repeated manual compilation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Live staff lists and dashboard aggregates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525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CEFFB-D0DC-4985-8D90-95A4DA5E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09541-E99F-49A9-96F9-1462121C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SCOPE AND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ACAD6-0AA0-4C91-B48E-35D0D92E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Roles and access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D94FF-F9B1-41AB-9F40-E5B4EC34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32BB6-38EF-421C-A5CA-AF8B5BCB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FA715-3BFB-4E8A-A324-4AFC6FCA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0C78C-33AE-494B-93BB-1DDBBB026D17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  <a:gridCol w="2743200"/>
              </a:tblGrid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Management scope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Student-facing effect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STUDENT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Flutter app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Own profile and applications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Sees eligible published drives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DTPO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dashboard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Assigned department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Creates department drives and manages rounds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UTPO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dashboard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University-wide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Manages coordinators and university-wide activity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EA9E6-76C4-4763-ACAA-F89E3A6C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server derives scope from the authenticated account and its department assignment.</a:t>
            </a:r>
          </a:p>
        </p:txBody>
      </p:sp>
    </p:spTree>
    <p:extLst>
      <p:ext uri="{BB962C8B-B14F-4D97-AF65-F5344CB8AC3E}">
        <p14:creationId xmlns:p14="http://schemas.microsoft.com/office/powerpoint/2010/main" val="1583253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93BC3C-63CE-4B75-83E8-A3C105A2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CDC87-56FB-42EA-9BBD-7601DF18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E82FB-343A-4006-B108-4594F73B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9A771-66D9-449F-A272-A6CB24BB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75F75-C1E2-49B6-81B3-86A91338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0EF5C-5CAD-4278-BAAA-EB09CF7A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B1863-8DE2-4D27-AD20-C4D6A6B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C9D83-E192-49AD-8B4E-256D9D49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Flutter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05106-0F74-4568-B6F6-ACA33F00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0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mobile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1246C-A034-4EA2-A2FF-101B3C2D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 drives, applications and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8E341-8D72-4D43-AA60-78CE8949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192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2F26D-A01A-42C5-ABB7-2AF85479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A8A00-035D-4CEE-B5BB-DA7A989B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Angular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0E5C3-9FAD-40F8-B5FC-40E5FA88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38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Staff workspace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1B69F-52ED-4A04-9E89-4D9312F9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UTPO and DTPO dashboards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6938D-A25E-4476-B042-7A5F0F0B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574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032A5E-F468-4963-B6F1-93357B2D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D18DA-0953-4CA6-99EB-A2868D2A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9648D-4F93-4757-A13D-ACD5D35F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76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REST API and business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FB612-5F23-487A-9F02-2358B165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Authentication, placement and recruitment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73D0B-C1CD-4B4E-981A-B6D83B48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956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FF061-9AC0-42C0-A63A-8AA7EFC4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284E8-7366-41F7-BFAE-1BB6D31C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43E7F-7ACB-4D3C-A157-DCE0CAF1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Persistent data store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3948F4-1AFD-45EF-BFCA-0FA2D928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Users, departments, drives, applications and results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DF9947-5E26-491C-849C-42A399EE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338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E0D7CC-2AE1-464C-92AE-5C03E94C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247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088694-7994-4F1C-AEFB-B32B91A4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JWT + BCrypt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1969F-13C5-4101-A56E-C4B7A33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Security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029F12-5F1F-4B43-B759-649EFC1B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Signed sessions and password hashing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D9E19E-D194-42FE-B502-F45A5B90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72075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80775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6432B-F84E-4E49-AA58-9CE2E15D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7207F-3ED6-4BE1-9455-EBE2B0DF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28FC3-5BBE-4A14-8A80-CE834525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5B307-890F-4CB9-B24B-85FC3F28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F3E0E-B2CA-4E8D-8C93-FA9789DE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BC60F-4EB3-436A-9931-51D798EF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2B5AF-C628-4924-99D3-63AE5203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90649-602D-474E-90DC-6231C070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F7B76-E727-48E5-B856-F8271123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Flutter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BDFBD-66D4-45B7-921E-BC8AC39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4E39D-C3DA-433B-8F9C-4D3D14F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Staff workspace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2C532-38F6-496F-ACBB-79ECF9A2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Angular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CECF3-4D4B-456F-851B-AF0DB25D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6FEE8-A8B4-4732-B265-963098EC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72659-7195-470E-8CB2-F001ACA7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24DF3-629D-459F-A128-45E429CE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571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CEC86C-E0C6-4592-8DA5-20D49609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A4A9E-F3FB-445D-8770-85393D50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F5FA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33842-0652-4403-AD55-591B76C5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114300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7555C-4D68-4D60-9076-10FCC000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AA530-B359-4031-98C6-8F438390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1238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B6C4A-A99D-48F7-83A1-AD270BE1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JWT-secured HTTP requests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7607F-EEF1-4894-B086-3E42E5E2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JPA repositories and migrations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4AAA1A-753C-436A-9871-3EAA7840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clients stay thin: visibility, eligibility and authorization are enforced by the backend.</a:t>
            </a:r>
          </a:p>
        </p:txBody>
      </p:sp>
    </p:spTree>
    <p:extLst>
      <p:ext uri="{BB962C8B-B14F-4D97-AF65-F5344CB8AC3E}">
        <p14:creationId xmlns:p14="http://schemas.microsoft.com/office/powerpoint/2010/main" val="213046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012919-53CD-485C-A13E-57DAE52D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9B763-08B0-40B3-A511-B7CA0C0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REQUIREMENTS AND ACTORS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92B21-3616-4BE7-8D1E-122D7771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case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97674-E778-4425-80DE-BCE3400C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724BE-20C6-44F5-9B0B-52A9C1C8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633B9-A354-4671-B76F-FD08844B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34495-4A19-4AC9-8AA8-B4DC3EC8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6858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24110-B67C-491C-A8F9-8E7237F9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CampusHire Placement Management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50A54-27C1-491F-B00B-1FACC39C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3812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4CA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C6208-D1FF-4962-B0F8-C79035BD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05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Authenticate / view /api/me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930B0-7D2A-44F1-9B56-E50F7012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3812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4CA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8A5F0-EFE5-4FB9-9D0A-F69AD61D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71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Manage profile and photo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59143-134F-4650-B83A-1B6FD246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24250"/>
            <a:ext cx="23812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4CA7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3F370-152C-4BBE-B710-7A8FDA77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38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Browse eligible published drives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09E41-118B-46CF-A09D-361B2BED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3812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4CA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CB82D0-1EE8-4188-BC9B-2BB010BC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05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Apply and track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73F6A-6C39-45DA-AC35-2A7AC413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90750"/>
            <a:ext cx="23812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4CA7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36BC2-1FF6-43F6-AED0-33F1B9D1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Manage companies and drives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BD575-4EA8-41B9-B109-A8C6F41F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23812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4CA7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237AE-EC5E-4CFE-BFDA-9B8C0E1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71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Publish drives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E48A6-A22E-4755-8BDA-0B449384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24250"/>
            <a:ext cx="23812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1CC6B-F3A4-493B-A669-69B87EA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38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Manage rounds and results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F6738-543F-4A17-8BAE-1F04D6DE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91000"/>
            <a:ext cx="23812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4CA7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A1439-296B-42E9-857A-151EB577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05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B1F3A"/>
                </a:solidFill>
                <a:latin typeface="Arial"/>
                <a:ea typeface="Arial"/>
                <a:cs typeface="Arial"/>
              </a:rPr>
              <a:t>Create / list DTPO coordinators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863CD-F63A-4550-A2AC-BDBBED40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5F519-63A0-40CB-B40F-860009F5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B2086-6730-4E9C-8A82-2199C1E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A85A17-F278-442A-A825-B089714A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099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DTPO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F02C0-80BD-426E-9589-BF990AF2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76750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36F9C-92C4-4AFF-98E6-2955295E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29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UTPO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D3A01-C21C-4C53-8544-C0980745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1362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069748-DCA5-4482-87CE-2981F8D0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13620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14E7BA-9347-48A5-B70E-874C6040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13620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049D65-31E8-48B2-9DFD-CFAD76C3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81325"/>
            <a:ext cx="1362075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FEF372-7D29-4925-A1E7-2C380DA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9825"/>
            <a:ext cx="10001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3AC3F7-0327-46B8-9DFD-0017DCA0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76575"/>
            <a:ext cx="10001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6DFCD0-33CB-4C96-9BA2-86E064CC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43325"/>
            <a:ext cx="1000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B085BA-B06A-41C7-89A1-9477621F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10075"/>
            <a:ext cx="10001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25D34E-42EC-415E-9C2F-4AE01227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293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Server-side role and department scope applies to every protected use case.</a:t>
            </a:r>
          </a:p>
        </p:txBody>
      </p:sp>
    </p:spTree>
    <p:extLst>
      <p:ext uri="{BB962C8B-B14F-4D97-AF65-F5344CB8AC3E}">
        <p14:creationId xmlns:p14="http://schemas.microsoft.com/office/powerpoint/2010/main" val="6394987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CD707B-2AAD-418F-AE76-D1744EE0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4293A-9C38-492B-8040-97A0AAA9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BUSINESS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82A61-DB88-45FC-A58B-9720B89B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Activity diagram: application and recruitment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005F1-47AE-4857-A422-B333D6F1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DD7B9-1F1C-4FC6-9071-CAEC89F6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4A13C-BAAE-44B4-A07D-832D817E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7818A-B0BC-4AF3-92DB-9DBF9F91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190625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48A87-948C-45C4-B97A-669347E7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1E7F2-3BF1-4794-9DCB-80A5AE40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6697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FD24E-B0F8-4835-85FF-052E75F0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38375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59014-80FE-4219-9FDF-F4189654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526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E089F-0B0D-4123-AE8D-CD304823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66975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8FD36-7779-47FA-8411-1C2AB2A5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1666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856A6-0EBE-49BB-9CDB-46E6497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147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 published</a:t>
            </a:r>
          </a:p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eligible drives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F7762-6126-48C3-BBF4-2CC42526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43150"/>
            <a:ext cx="4286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ACDBA-25E3-43B0-9130-120EB46D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76AE8-A12A-45FF-8A59-171A6B2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drive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C3E89-CC91-482A-BE5F-EB3D789D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66975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B9B07-2BB5-40B3-A9DA-7E568EE7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4B64D-E5F2-4D9E-B0EC-54B325E9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Eligibility +</a:t>
            </a:r>
          </a:p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duplicate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27375-E135-4105-82C1-53B97B8D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33337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35D79-5334-478F-A02E-639758F8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38375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3CDBD-E834-4638-BD14-3D7C81F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 APPLIED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312628-A17B-4A84-8AEE-847A664E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62375"/>
            <a:ext cx="1428750" cy="838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94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2C888-52EA-4822-BAE0-784B17D3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Eligible?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384E46-8CDC-4FE5-91FD-82F7E281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1428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solidFill>
              <a:srgbClr val="D794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93936D-C582-40FE-82EA-A9443EF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48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4949"/>
                </a:solidFill>
                <a:latin typeface="Arial"/>
                <a:ea typeface="Arial"/>
                <a:cs typeface="Arial"/>
              </a:rPr>
              <a:t>Reject request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5894D-392D-4063-9D9F-A9161043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86050"/>
            <a:ext cx="457200" cy="1076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8A8FE-EAEE-48D7-9C90-D2CA2AE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B64949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64949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F43094-1AC3-470B-9337-9E9BD3E5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81475"/>
            <a:ext cx="1190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6268C2-8DE4-4034-B996-54F6AE88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24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1F8A7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F8A7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21CCBF-8CD7-425A-B4DE-39A1289D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56E380-CB78-4FAE-9CA1-96758449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views application</a:t>
            </a:r>
          </a:p>
          <a:p xmlns:a="http://schemas.openxmlformats.org/drawingml/2006/main"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and published progress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90BF1E-74D1-4D74-867A-58CE9565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15436A-FB30-435B-84E7-DEFACCBE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Staff configures rounds</a:t>
            </a:r>
          </a:p>
          <a:p xmlns:a="http://schemas.openxmlformats.org/drawingml/2006/main"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and selects candidates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1852FC-AD36-4502-9659-DABEB92E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86375"/>
            <a:ext cx="238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2F267D-FDBC-40C7-ACE4-58AF6E1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4292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Record results → publish</a:t>
            </a:r>
          </a:p>
          <a:p xmlns:a="http://schemas.openxmlformats.org/drawingml/2006/main">
            <a:pPr>
              <a:defRPr sz="1125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B1F3A"/>
                </a:solidFill>
                <a:latin typeface="Arial"/>
                <a:ea typeface="Arial"/>
                <a:cs typeface="Arial"/>
              </a:rPr>
              <a:t>round → final outcome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AD3009-589A-4714-B269-A9D8DDE9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The backend remains the source of truth for eligibility, uniqueness and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16702552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142032-6263-44FF-9CF2-0DE24F18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C096F-E797-47F5-8402-2F9F9256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DOMAIN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EFDA9-1D84-44EF-8596-C75A1BF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Class diagram: core placement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777BB-0D08-4CA3-9E5F-77B54E20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51975-50F4-47E1-8972-D3463620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824B4-C8C7-4208-8647-59F337F1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8B765-5161-411B-AAA9-C9F4885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37598-45D6-4C6F-B1AF-1CDCB70B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BE1CE-7C20-42BC-AC95-6810A2DF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A1D50-2158-4CA9-8E11-67679E26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userId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role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7E438-ADA8-4E23-89C6-0D3AF28D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AD424-E2A5-4708-8FF2-2A318D41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83C7F-BCFC-4906-979D-29331D71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Department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AEFBE-6D15-4264-A947-07AF6370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name /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FE5C3-5A53-4411-A3F0-D41053C3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14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10178-7FDB-4FAB-A391-AEDF657A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14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70D65-E1DA-4D22-80B7-4AE4242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86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928FE-0036-4D23-9059-EBBBEA89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9100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enrollmentNumber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academicProgram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2966C-BE7C-4787-AE3F-FDB48062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120CC-346F-4FB7-B69E-5E0DBAD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2CDFE-80B4-4D03-A821-00CD9498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85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BF769-1549-49D2-9F48-838986F3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1907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companyName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contacts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46800-5930-4129-832C-7758D477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3511D2-DEA2-4890-B71C-319E4B47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BEBC6-C464-4569-84A8-0C70CCE9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PlacementDrive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FC2843-BECB-47FF-B350-EC304328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driveId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status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eligibility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academicYear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4DF48B-D62B-448E-840C-33859FC5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BE055C-910F-4D0F-B3C8-C2AB85D6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20824-BA23-435E-9982-20A64A64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86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PlacementProgram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F5A94-9BE1-49C9-A9BF-214BFD00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9100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programId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programCode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AF53B-A090-47C8-8553-A6BC1EE0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1450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D988A-A4C9-4BCC-A832-0D8490CD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14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5873D1-DAD2-4C7D-AA22-BA51B8B1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85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PlacementApplication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7B05B4-A3C0-48F7-8996-F783A93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19075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applicationId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appliedAt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9B4BAC-EFE0-4173-8891-2A5A90F2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14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5144F-0C8A-4764-827D-5CBA71F9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14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AB31CA-C291-4FBF-AA37-43CD0AC6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86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RecruitmentRound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EC3021-1AED-48E8-93FE-5520886A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19100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roundOrder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resultsPublished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7FB4F8-52B3-47A5-BB39-D47EE4A1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555632-96D8-41D3-9E49-375E01C7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BBDFD8-EC68-463F-9183-968B8642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86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RoundResult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AE630A-FFAC-4D09-8089-95F633C9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roundResultId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result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recordedAt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362605-4D72-4682-B0BE-2EF2030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43200"/>
            <a:ext cx="95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D8CB24-98FB-49A9-BFF8-F5DBAD86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33337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CC1541-DF45-4ED0-BBD3-34CA65A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100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CE3F07-9846-4F94-BB2D-12292D31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28850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935D58-B219-497C-AAC2-53A82072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28850"/>
            <a:ext cx="714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8F99B6-FA33-4173-92CA-EF3DA34E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43200"/>
            <a:ext cx="9525" cy="971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53EF66-3E3A-439C-A226-BB716323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714375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50140A-D6DB-4C91-8BF1-511C8A10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229100"/>
            <a:ext cx="523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02822D-3DE5-4BB2-A0FC-FCCC4458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10515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optional profile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C0FA6C-DCA4-4EBC-8352-BD84967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43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assigned dept.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D8359B-63D7-4BF2-BEED-8BE6631A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many drives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D3072F-F814-44B3-ADAC-99B5623D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Company / academic year / department → drive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D3054B-218F-4BE2-A08E-127A8018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Drive ↔ program uses placement_drive_programs; applications and round results remain linked to the drive.</a:t>
            </a:r>
          </a:p>
        </p:txBody>
      </p:sp>
    </p:spTree>
    <p:extLst>
      <p:ext uri="{BB962C8B-B14F-4D97-AF65-F5344CB8AC3E}">
        <p14:creationId xmlns:p14="http://schemas.microsoft.com/office/powerpoint/2010/main" val="19224876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8E0591-5EB0-4BB6-9170-5F048F31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98546-4F93-47CC-B8EE-256DFB90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SYSTEM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27342-1DC7-42FC-8905-5A197C74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Functional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730D7-7CBE-4236-9EB7-FF4E9A16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46E2F-3C3A-4783-92FD-60854E77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C0278-0B96-42B6-939A-31CE9E52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CBBD7-2571-4774-BCE9-BE3B4766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8233C-2933-412A-8573-E54A5B8B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CBB0C-2F99-4148-A367-A533193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F5EB8-1CFF-45E9-AB1D-BF86F14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Registration, login, JWT, /api/me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FE7EA-10F2-4F5A-97CC-F9C53E9F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06FE8-2C6B-4FE8-84FD-B99F5A3C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D2DC1-F5BF-49F2-9CCE-62286445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2BAD2-DECE-466B-8602-AFD002D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Profile details and photo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D94CE-96A8-420F-BD38-1192361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344B8-0354-40D8-9DDB-CEF77EA6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29068-A37C-4E95-A9E6-AFDBCCA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Companies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CF4DE-53C6-42BA-AEC5-3BF0655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Staff-managed company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B5555-134D-4DFB-AE3A-C9E84D02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FBDF9-6BA9-4A8B-A8CE-86F56540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942DC-7470-4B4C-BD58-B3791885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 drives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E75CD-0BB3-4EE2-B864-0E0A7198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Draft, publish, eligibility and visibility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C3777-4476-488E-BF14-8E2640C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B39E3-B565-46E9-81DB-5E43E4A3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0F70E-2BFE-43DB-B618-243B38ED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8D3343-6AAD-4C5F-8022-88A7457B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Apply once and view 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CACB91-FD13-4D58-976B-890A0130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18A7E-D06F-4179-8F3B-B34B13A5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07CEA-9AD6-470E-B62C-1C75413C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Recruitment rounds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2219AF-77E6-4784-8499-5C358561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67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Ordered rounds, results and progression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05A8D-3D5F-468C-ACCC-0AE8FD3F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333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15949-6EA4-41CD-B7BC-B6C60553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017E2D-63F3-49CB-BCB8-AA1056C3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Dashboards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2CB765-9293-4CC6-8AD1-E6C28664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UTPO/DTPO operations and aggregates</a:t>
            </a:r>
          </a:p>
        </p:txBody>
      </p:sp>
    </p:spTree>
    <p:extLst>
      <p:ext uri="{BB962C8B-B14F-4D97-AF65-F5344CB8AC3E}">
        <p14:creationId xmlns:p14="http://schemas.microsoft.com/office/powerpoint/2010/main" val="5006538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F169F3-D6F0-453D-9C5F-9ED0FEF0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9B6D0-C47F-4DBF-AB13-E8CA33E6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67919-69F9-46D0-848F-C32CCC89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9F8F1-CA69-4F2F-990B-C3C3E995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11EBB-4D93-4E45-957A-7B2A7272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9125A-AF76-41BB-AF14-8AF4126C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DF6BE-E00A-4ABD-A37A-537F6A3A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68987-A42C-4FAF-8361-73AEF83F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06095-FB05-4624-9FE7-FE8F8FD6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user_id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role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A73F6-B705-4AEE-B97B-475BE931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2FA0B-9EA2-4AE3-BED6-F7E3FCA7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departments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D585D-A86C-4421-BCE3-D33C6186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department_id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name /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499E8-BAD7-4A35-9986-59A5C7A0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1CFE0-0EDE-4FB8-9CEB-2C64A4EC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FB61A-768C-4AC9-B50F-17D6602C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86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enrollment / program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1E461-61C2-4865-82FE-6D6A6C5A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CE87C-7DFF-4987-AC27-092CD738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14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companies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984F5-5549-4093-B934-4408E8D9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company_name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15E7C-F45A-49A5-969C-9EABB570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852FB-6131-4555-AA08-34412518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placement_drives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6517A-285D-4B4F-BAEE-918DFAA9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drive_id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status / eligibility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8EDF6-35C3-4022-BA06-95DF486A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724CC-6817-4602-94DB-57EFFCE8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19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9611D-CFBD-4E3B-8F81-F4A3FD98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86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application_id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 / drive /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0DF73-2345-4C59-A04D-719F585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F6B35C-AFD5-449F-A3D5-6A4FE124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24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placement_drive_rounds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C603F-840F-4E31-841C-664C8C80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791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order / published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CFF59E-EBF6-44F4-A499-678407B0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2925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A0F148-4ADA-4C82-A06E-CB5E71FB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245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placement_round_results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9E7E9-8C0F-4F94-9D57-9D58B6F2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912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round_result_id</a:t>
            </a:r>
          </a:p>
          <a:p xmlns:a="http://schemas.openxmlformats.org/drawingml/2006/main">
            <a:pPr>
              <a:defRPr sz="9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B6B7F"/>
                </a:solidFill>
                <a:latin typeface="Arial"/>
                <a:ea typeface="Arial"/>
                <a:cs typeface="Arial"/>
              </a:rPr>
              <a:t>result / recorder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C329B-B250-4978-964E-FB512A8D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DD4D6B-E935-4056-B14C-CE50382E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1714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EBED36-7699-480F-AA62-209C12B1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3810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E26CEB-E543-47D6-8401-64FF2F56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9AE74B-DC06-48CD-840E-9F8921CB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6CD495-7E21-4EFD-8709-ACBAF2D0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473CF0-B4A4-41A7-BFF2-D53C9772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95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DB37A1-FE69-4E79-9223-069621DA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48350"/>
            <a:ext cx="1047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37408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EE9FBB-48FC-4BF8-95F4-DE37689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7C590-F1A5-46ED-83E8-62000B96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F21A-BB91-40CC-9A6F-C5E50AD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Authentication and user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A32B9-F457-4F9F-ACFB-8319543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1F202-A843-4CDF-81DF-78ED8511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43694-49CD-41CD-8E69-0E508453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DC444-0D42-411F-A9A1-54E70282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5BA15-4BE3-4807-A8BB-2E88059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7C7C5-8C61-4D35-B10B-A3D8B6D3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2A747-CD50-4D8D-B23D-2D08F8E8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049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 uses enrollment number. Staff uses university email.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129FB-4ED8-4A06-AD81-FC557B5B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E3C35-3DDB-4160-B0AF-6AE2B6AD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3EB41-980A-4405-85B4-01989A8E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92B11-AD88-4570-BF76-42B76700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38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89B7B-4794-443B-95B8-EACAB09A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BCrypt checks the stored password. Disabled or unsupported accounts fail closed.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C3F04-AB80-4DD8-99CE-CD83AACE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97291-F5CE-4481-95E4-FD1C8D22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1E4BD-0636-4C82-B10A-B885BBCD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D9303-5FE6-4FF1-8DE1-928CEE89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593ED-709A-4E11-B558-4C36AF36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147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JWT carries the authenticated identity and role 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5B3DA-774A-41CE-9A13-0ED04DCC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6EFC6-5BA7-415D-B617-479CA3EA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BBD83-4194-40A6-9046-1683D6F4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6D2E3-8E24-48E5-A167-07E9FF90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B76E5-0790-41FF-9982-7482C72B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Protected services reload the account and use current role/active state.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5976D-2EB7-4C46-B0D9-B753400A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91C38-DF97-43B9-9EE8-F04F6075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B7D65-4584-49CB-9D24-22EB18B9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Current-user 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CD6EF1-986F-4FF4-8E94-DA099C80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2781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/api/me returns safe identity, role, active status and department data when present. Staff accounts do not require a Student row.</a:t>
            </a:r>
          </a:p>
        </p:txBody>
      </p:sp>
    </p:spTree>
    <p:extLst>
      <p:ext uri="{BB962C8B-B14F-4D97-AF65-F5344CB8AC3E}">
        <p14:creationId xmlns:p14="http://schemas.microsoft.com/office/powerpoint/2010/main" val="8435333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95C476-83CB-46AB-A76F-C8251F9F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B2299-1CE6-48B2-9C18-A936ED35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PLACEMENT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FAA7B-F6E6-4EF3-8B4E-67D8FCD9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Placement drive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0BDA5-E644-4CD1-9970-7CD344F8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BC429-1D32-4498-AC40-55BEE029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77617-2B71-4CCD-87B9-196AF6DB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6EF3F-624B-4151-9C67-3E576D62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E1938-76A4-457E-A05D-B422C835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AD724-48B6-425F-892C-6DEDC543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or reuse a company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41CE4-DDD7-4256-A4E7-8A09EB44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24150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BCE1E-6409-4784-9632-320EF339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2FBAC-1B13-40A8-A471-A7AEEAAF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A3946-40A6-4E68-8383-FD5F2F17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drive details and eligibility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29602-EE74-478D-BEAB-227E36D9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24150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DA9C6-CC75-4AEE-90CB-062EF8EA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F5FA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17183-12D5-4544-A487-2AA5B8D7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6F358-FB6C-4701-8F6E-C9BCBA8D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D7E8F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7E8F7"/>
                </a:solidFill>
                <a:latin typeface="Arial"/>
                <a:ea typeface="Arial"/>
                <a:cs typeface="Arial"/>
              </a:rPr>
              <a:t>Staff publishes only a draft drive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DDFE1-8FD0-40C0-A9EF-DCDE9E21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EA2B7-80BE-42AD-B476-C681E710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4A35F-199B-4F03-B30F-6DACBA47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2011E-1C17-4F0F-A162-4035C167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see eligible published drives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B787A-F053-4F8D-9ECF-ED79F6FD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24150"/>
            <a:ext cx="409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036A0-33B2-41F8-A148-1267DB03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FE5A6-C572-4052-90D1-3454BF31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3362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20A52-6AC4-4557-B3CD-AEACC50A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3367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B6B7F"/>
                </a:solidFill>
                <a:latin typeface="Arial"/>
                <a:ea typeface="Arial"/>
                <a:cs typeface="Arial"/>
              </a:rPr>
              <a:t>Deadline and status stop new applications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0C92AC-52A3-4CD7-96E5-E2EFFCD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Eligibility uses department, program, graduation year, CGPA and configured backlog rules.</a:t>
            </a:r>
          </a:p>
        </p:txBody>
      </p:sp>
    </p:spTree>
    <p:extLst>
      <p:ext uri="{BB962C8B-B14F-4D97-AF65-F5344CB8AC3E}">
        <p14:creationId xmlns:p14="http://schemas.microsoft.com/office/powerpoint/2010/main" val="15564885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7ED803-10A8-42DB-AACF-1DAD1E8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7389A-423C-4D8F-94D8-14817724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STUDENT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1191D-C867-430C-A78F-28376947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Student application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957A8-1BE6-45B3-96ED-2AF4781F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77B04-E61B-488F-952C-72CE9C4D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BD820-12C3-4460-9C63-B6E2DC44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82E9C-FFC3-4424-9025-08305BA3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EB32A-D71F-4FC3-964F-671772E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907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76E31-325E-40D6-8006-3752B2FD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52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0B4F1-7788-4FE0-9803-A6A2E00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Browse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D753F-F784-4800-A33A-327F2D78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GET /api/placement/student/drives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78DA0-24BF-4EFD-8016-5A00118C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E682C-3F45-4AA6-A576-06A48C23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2B31E-E1F2-49D5-AD87-946E323E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F54D5-1AE2-44EE-88EF-AD453758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B2D78-DFBA-49F9-972F-F2D7C37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76CC6-A055-4CFD-8BA3-AE0E6AD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03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View company, role, package and eligibility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B54A8-9172-487C-ADAA-FA04D803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DEB75-4E3C-456E-8EEE-6CC073C1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F76D8-CE8A-402E-B68A-373D4746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D2EF8-84F3-49E7-8E4A-61559426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AB3CC-BA70-4B88-B020-D4CFFA9B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94F07-396C-4733-8BD6-C43E0AF2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POST application for an eligible published drive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5D019-9F6C-4394-81EF-0DEAC3D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F7362-7B7E-4D18-8CDC-E4C02295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BB855-638F-4531-B037-9BA905AD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907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5E040E-94DE-46A0-AEB7-3214AA5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52625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03412E-582C-4877-BCAF-83BF65E1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41E82-7AF5-4AF6-B8DB-987FD23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0375"/>
            <a:ext cx="184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B6B7F"/>
                </a:solidFill>
                <a:latin typeface="Arial"/>
                <a:ea typeface="Arial"/>
                <a:cs typeface="Arial"/>
              </a:rPr>
              <a:t>View own applications and progress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FCC56B-4BBB-4A84-B5FC-164BE96A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57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database unique constraint prevents duplicate applications for the same student and drive.</a:t>
            </a:r>
          </a:p>
        </p:txBody>
      </p:sp>
    </p:spTree>
    <p:extLst>
      <p:ext uri="{BB962C8B-B14F-4D97-AF65-F5344CB8AC3E}">
        <p14:creationId xmlns:p14="http://schemas.microsoft.com/office/powerpoint/2010/main" val="1099865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0E15F6-269F-44AD-AF2B-A9EC2593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CF578-E454-4582-B9F0-A7DEBEBE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RECRUITMENT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416AC-56C3-4AE8-9C9B-3F499761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Recruitment round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DB36E-25DC-42D9-BB03-F582F480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DBFA1-D7AD-4A81-A67B-B2B26339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D5CBA-128A-434A-B7C9-764A1D5C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BBAEB-1433-4EBD-9F21-0098D5C8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7439F-19DC-49F2-B233-CA18A32E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B306D-4990-488E-966C-0028B3F8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A2EB1-4629-472D-8149-876DA79A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Create named, ordered rounds</a:t>
            </a:r>
          </a:p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Mark one final round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33FAC-E855-489C-9627-D3B148EB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4130F-D923-45A9-9E79-36DF53D4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0849B-8B92-40E5-92F8-8C62976A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5E0B6-80C9-4C15-8153-141D33E2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4CEC3-319C-4AED-89F5-37708B7B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146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Candidates begin in Pending</a:t>
            </a:r>
          </a:p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Only passed students advance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D74BB-9C26-46FA-AFC2-DD224A9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3A653-6BE2-4236-8320-AB25E2BA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D1406-ECE7-4EAE-9EF5-70D16821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0F402-0121-4D1E-B704-AF00EF45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A9E84-2029-4C8C-9DCE-39A7D009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Publish round results</a:t>
            </a:r>
          </a:p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Students see published outcomes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9F73D-9D63-4B85-8445-8B1D7D70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A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FDDFD-8C25-4006-B559-714E67A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36CAB-2F78-4586-8147-DBD4E335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56C33-59AB-436B-9309-9D8A18D2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72D4B-C883-4D03-9720-6FF9C3CF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14625"/>
            <a:ext cx="190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Record Selected or Not Selected</a:t>
            </a:r>
          </a:p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after a passed final round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C391C-2270-450F-85F3-014E0A8E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625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Structural edits are blocked after results exist, protecting the meaning of recorded outcomes.</a:t>
            </a:r>
          </a:p>
        </p:txBody>
      </p:sp>
    </p:spTree>
    <p:extLst>
      <p:ext uri="{BB962C8B-B14F-4D97-AF65-F5344CB8AC3E}">
        <p14:creationId xmlns:p14="http://schemas.microsoft.com/office/powerpoint/2010/main" val="12597529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D2D9C-7BB8-43B6-8E57-284E6F27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1EE8A-292F-43F4-900B-EEBDA52D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STAFF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3FFAB-4321-4C14-B28A-4EC73B65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UTPO and DTPO dashboards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FED73-8A2D-471B-B6F7-56D54761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7AC53-E230-4269-8EA7-23441E2D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9584F-3702-4A9E-A62B-74D2EB2F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79AF6-9461-49C0-A5EF-53BD96B79C2E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666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Capability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UTPO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DTPO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Companies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 and list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 and list within staff authorization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Placement drives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University-wide access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Assigned department scope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Coordinators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Create and list DTPO accounts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No coordinator administration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Round management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endpoints available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controls for department drives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E3B08-4494-4402-8E0E-608CB635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B6B7F"/>
                </a:solidFill>
                <a:latin typeface="Arial"/>
                <a:ea typeface="Arial"/>
                <a:cs typeface="Arial"/>
              </a:rPr>
              <a:t>The dashboard is connected to real APIs for existing placement data. Round UI is present in source; final live verification depends on the V5 schema.</a:t>
            </a:r>
          </a:p>
        </p:txBody>
      </p:sp>
    </p:spTree>
    <p:extLst>
      <p:ext uri="{BB962C8B-B14F-4D97-AF65-F5344CB8AC3E}">
        <p14:creationId xmlns:p14="http://schemas.microsoft.com/office/powerpoint/2010/main" val="4172801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C4B18-C632-4EB6-BC96-82C01FFA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DDACF-D87E-4092-9EE7-92A20CB9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QUALITY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B1471-DDBC-452A-B05E-477916FD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Testing and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D69AB-FA8F-4CE8-9267-379D7449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73296-A788-4F83-9E28-8D6DAFB7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FB652-39F4-489C-ADAC-C580A8AF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20EA5-09D3-43C9-BE37-2851EE43DBA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49666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T w="9525">
                      <a:solidFill>
                        <a:srgbClr val="D6E1EE"/>
                      </a:solidFill>
                      <a:prstDash val="solid"/>
                    </a:lnT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1F5FA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compile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Java 21 compile and test compilation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Focused Flutter tests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2 widget tests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Flutter analyze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PASS*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3 style infos 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type-check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E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ngc application check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Backend test suite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BLOCKED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FFF2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Mockito / Byte Buddy agent attachment in local environment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Angular production build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E1EE"/>
                      </a:solidFill>
                      <a:prstDash val="solid"/>
                    </a:lnL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B1F3A"/>
                          </a:solidFill>
                          <a:latin typeface="Arial"/>
                          <a:ea typeface="Arial"/>
                          <a:cs typeface="Arial"/>
                        </a:rPr>
                        <a:t>BLOCKED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  <a:solidFill>
                      <a:srgbClr val="FFF2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B6B7F"/>
                          </a:solidFill>
                          <a:latin typeface="Arial"/>
                          <a:ea typeface="Arial"/>
                          <a:cs typeface="Arial"/>
                        </a:rPr>
                        <a:t>Node process exited 134 in local environment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E1EE"/>
                      </a:solidFill>
                      <a:prstDash val="solid"/>
                    </a:lnR>
                    <a:lnB w="9525">
                      <a:solidFill>
                        <a:srgbClr val="D6E1E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9385E-3069-464D-8026-19BF9329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649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64949"/>
                </a:solidFill>
                <a:latin typeface="Arial"/>
                <a:ea typeface="Arial"/>
                <a:cs typeface="Arial"/>
              </a:rPr>
              <a:t>No claim of live V5 database verification is made in this deck.</a:t>
            </a:r>
          </a:p>
        </p:txBody>
      </p:sp>
    </p:spTree>
    <p:extLst>
      <p:ext uri="{BB962C8B-B14F-4D97-AF65-F5344CB8AC3E}">
        <p14:creationId xmlns:p14="http://schemas.microsoft.com/office/powerpoint/2010/main" val="14650206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7146B-C9D3-4202-ABAD-10A56DC1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B7E51-DAE0-4208-872A-DCF48D39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REVIEW HONESTLY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A9E54-EB1E-4FB9-9CED-883860B1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Current limitations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EF156-6CA4-4C4C-8874-A301021A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09B6E-12FD-446E-BB0D-4FEFAEC9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A98A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5E09C-9D20-40AE-A73D-B5BACF3B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defPPr>
            <a:lvl1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1pPr>
            <a:lvl2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2pPr>
            <a:lvl3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3pPr>
            <a:lvl4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4pPr>
            <a:lvl5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5pPr>
            <a:lvl6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6pPr>
            <a:lvl7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7pPr>
            <a:lvl8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8pPr>
            <a:lvl9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>
                <a:solidFill>
                  <a:srgbClr val="8A98AA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8A98AA"/>
                </a:solidFill>
                <a:latin typeface="Arial"/>
                <a:ea typeface="Arial"/>
                <a:cs typeface="Arial"/>
              </a:rPr>
              <a:t>CampusHire · Placement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E42A5-DD87-4947-BFED-00FD4BA7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9AD74-A751-4552-9BD2-1DEA856A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4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8BC8E-6400-416E-8E7E-D7D974C4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Pending rollout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129FE-E253-4AA9-9F5C-5F8BF254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81225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Apply and validate V5 in PostgreSQL with a backup and Hibernate ddl-auto=validate.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356CA-EB1A-41F0-B91B-245CA1B5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05489-DC0E-448D-B84E-8A8383C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E7A38-C98B-4A1A-8AFD-21AB985D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383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Environment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0648F-C161-4177-9754-F4FC8C0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81225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Run backend tests in an environment that supports Mockito agent attachment and complete the Angular production build.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AC829-306F-4CDE-AFA9-3B3C25D6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668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20EC6-9505-475B-9509-AE7A6C2F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668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02F04-2BA2-465A-9B49-1004AE41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383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BA771-B2C6-43EA-AFD2-B728AF90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81225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B7F"/>
                </a:solidFill>
                <a:latin typeface="Arial"/>
                <a:ea typeface="Arial"/>
                <a:cs typeface="Arial"/>
              </a:rPr>
              <a:t>Configure approved academic years, departments and placement programs before realistic eligibility tests.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22A87-9DAE-4B85-893B-56E4B096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Future enhancements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98539-A7CF-444E-97F4-8DF22A18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F"/>
                </a:solidFill>
                <a:latin typeface="Arial"/>
                <a:ea typeface="Arial"/>
                <a:cs typeface="Arial"/>
              </a:rPr>
              <a:t>• Round-level reporting and richer filters</a:t>
            </a:r>
          </a:p>
          <a:p xmlns:a="http://schemas.openxmlformats.org/drawingml/2006/main">
            <a: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F"/>
                </a:solidFill>
                <a:latin typeface="Arial"/>
                <a:ea typeface="Arial"/>
                <a:cs typeface="Arial"/>
              </a:rPr>
              <a:t>• Operational notifications for students and staff</a:t>
            </a:r>
          </a:p>
          <a:p xmlns:a="http://schemas.openxmlformats.org/drawingml/2006/main">
            <a:pPr>
              <a:defRPr sz="1350">
                <a:solidFill>
                  <a:srgbClr val="5B6B7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B7F"/>
                </a:solidFill>
                <a:latin typeface="Arial"/>
                <a:ea typeface="Arial"/>
                <a:cs typeface="Arial"/>
              </a:rPr>
              <a:t>• Broader live integration and deployment verification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16051-BAD3-4890-AF96-35B65643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381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F5FA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5FAF"/>
                </a:solidFill>
                <a:latin typeface="Arial"/>
                <a:ea typeface="Arial"/>
                <a:cs typeface="Arial"/>
              </a:rPr>
              <a:t>The current V1 avoids inventing outcomes, seed data or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2385532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EEAD3-3DA2-4F27-BF3B-AB48B043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A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263A6-874F-4F10-9C66-79D69E10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A38ED-1184-4107-BDD7-9815FE51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CAMPUSHIRE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85185-99F3-4117-A4ED-8AAA2487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placement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Clearer progress.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B274D-B097-47E2-B7BE-8233FA2F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D7E8F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D7E8F7"/>
                </a:solidFill>
                <a:latin typeface="Arial"/>
                <a:ea typeface="Arial"/>
                <a:cs typeface="Arial"/>
              </a:rPr>
              <a:t>A secure foundation for the next stage of university placement operations.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B8C50-D5BD-4E8A-A2EC-D67DFCC9FF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662d4abb94bd5"/>
          <a:stretch xmlns:a="http://schemas.openxmlformats.org/drawingml/2006/main"/>
        </p:blipFill>
        <p:spPr>
          <a:xfrm xmlns:a="http://schemas.openxmlformats.org/drawingml/2006/main">
            <a:off x="8591550" y="2190750"/>
            <a:ext cx="1285875" cy="12858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5E572-F19F-4795-BEAA-FE8BF882D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a0f2594564d9a"/>
          <a:stretch xmlns:a="http://schemas.openxmlformats.org/drawingml/2006/main"/>
        </p:blipFill>
        <p:spPr>
          <a:xfrm xmlns:a="http://schemas.openxmlformats.org/drawingml/2006/main">
            <a:off x="10077450" y="2190750"/>
            <a:ext cx="1285875" cy="1285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F6792-0972-49BE-8583-70B1262D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FD1B0-8E34-45E7-982F-A3C8D2E7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A9D7F5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34903-C5F9-4C88-ADAC-9EF403DD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34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A9D7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D7F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06311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2026-10-23T19:58:46.2020000Z</dcterms:created>
  <dcterms:modified xsi:type="dcterms:W3CDTF">2026-10-23T19:58:46.2020000Z</dcterms:modified>
</coreProperties>
</file>