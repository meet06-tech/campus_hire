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CampusHire centralizes the placement journey for students and the university placement office. Source: repository README, backend controllers and current frontend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system as a shared source of truth. Student and staff experiences use separate clients but the same backend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project motivation without claiming measured performance improvements. These are workflow problems the system is designed to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objectives summarize the implemented direction and the current recruitment-round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 is qualitative and based on the project’s stated workflow goals. It does not claim measured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Role names are persisted as UTPO, DTPO and STUDENT. UTPO has no department assignment; DTPO requires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verified in the repository include Java 21 and Spring Boot 3.5.6. PostgreSQL is configured through environment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reflects the actual repository structure: Flutter and Angular clients call the Spring Boot API, which persists to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use case view reflects the implemented actors and endpoints. Students own profile and application actions. DTPOs operate inside their assigned department. UTPOs have university-wide scope and coordinator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activity flow shows two connected journeys. Student application is gated by published status, eligibility and the unique student-drive constraint. After applications exist, staff manage ordered rounds and publish outcomes for students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class diagram uses the actual domain entities and relationships. UserAccount optionally has a Student profile; a PlacementDrive belongs to a company and academic year, may be department-scoped, and is connected to applications, programs and recruitment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Modules are derived from controllers, services, entity mappings and the two frontend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table names include users, departments, students, companies, placement_drives, placement_applications, placement_drive_rounds and placement_round_results. The diagram emphasizes the placement relationships rather than every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reflects the implemented compatibility path: student enrollment login is preserved while staff login uses identifier/email and does not require a student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backend distinguishes DRAFT, PUBLISHED, CLOSED, CANCELLED and ARCHIVED statuses. Students do not see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screens are Flutter-based. The backend remains the source of truth for eligibility and duplicate-application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source includes the V5 migration and RecruitmentService. Database application and runtime validation remain a deployment step, not a claim of completion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during review: DTPO scope is enforced server-side. The current branch adds round controls but the migration still needs a controlled database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reflect the current repository checks. The full backend suite is not counted as passed because the environment blocks Mockito’s Byte Buddy agent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are based on the current repository state and verification outputs. Separate source presence from live operational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value: a shared, secure and traceable placement workflow. Invite questions about architecture, authorization and the round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53375E-1EB1-4CD8-8A24-33BD9154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8DFCCFF-E92F-4812-9122-4F7C87573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6A78E51-F2F1-4143-88FE-244EC83DA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8A0D364-6E9C-4D89-80CC-C144DC9F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09391DA-2003-44EA-9AC1-1B06E2EB7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BC67D3F-9CDF-41AD-819C-EE65AB8B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CBA5AF-CC7E-4839-8BA7-F5872EA2D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C4EFAE6-65AA-4ECC-AA5D-3A4F1E1E08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D24D72-6AA0-4140-9B01-2FCA07A4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47C9EF4-0047-4ABB-BC8D-171CED9CA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77FA4C4-7394-4A5A-9774-8896093D7A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8E3208-9949-44DE-81D5-9B4A8F91BAE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23C6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AFA73-ABA4-49FC-93D5-136961272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495300"/>
            <a:ext cx="1047750" cy="1047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DAC6E2-BAC7-47EB-9652-DAD572C5F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00250" y="495300"/>
            <a:ext cx="1047750" cy="1047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B49DD9-6347-4CBA-8CD1-3B8E6765211C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CAMPUSHIRE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0AAE12-85C8-44E3-A352-EDCEF97DAA13}"/>
              </a:ext>
            </a:extLst>
          </p:cNvPr>
          <p:cNvSpPr>
            <a:spLocks noGrp="1"/>
          </p:cNvSpPr>
          <p:nvPr/>
        </p:nvSpPr>
        <p:spPr>
          <a:xfrm>
            <a:off x="781050" y="2419350"/>
            <a:ext cx="5905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Placement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6468F-4772-4DA5-9ADE-00F9C2D6C625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7E8F7"/>
                </a:solidFill>
                <a:latin typeface="Arial"/>
                <a:ea typeface="Arial"/>
                <a:cs typeface="Arial"/>
              </a:rPr>
              <a:t>A unified platform for student placement discovery, coordination, applications and recruitment progress.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60AD39-4B5E-4C48-9BAC-F1D1021179C0}"/>
              </a:ext>
            </a:extLst>
          </p:cNvPr>
          <p:cNvSpPr>
            <a:spLocks noGrp="1"/>
          </p:cNvSpPr>
          <p:nvPr/>
        </p:nvSpPr>
        <p:spPr>
          <a:xfrm>
            <a:off x="800100" y="55626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CHARUSAT University · CMPICA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83BE90-BF16-4D86-A133-5DE996B9200E}"/>
              </a:ext>
            </a:extLst>
          </p:cNvPr>
          <p:cNvSpPr>
            <a:spLocks noGrp="1"/>
          </p:cNvSpPr>
          <p:nvPr/>
        </p:nvSpPr>
        <p:spPr>
          <a:xfrm>
            <a:off x="800100" y="58769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D7F5"/>
                </a:solidFill>
                <a:latin typeface="Arial"/>
                <a:ea typeface="Arial"/>
                <a:cs typeface="Arial"/>
              </a:rPr>
              <a:t>Project review presentation · 2026–27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D56B2-B45E-46D3-B2BC-84EAB57B14F2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296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4BE2BF3-739D-4E4F-BBAD-D5A828A7EB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CCFDD9-F3C4-4AFD-A6F1-364F178E476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9FBD06-1BA2-43B5-89DF-DE42A53BD530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coordination in one workspace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F81DB03-334D-4951-B0BC-F57AD02C748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85E73-C6BB-4456-A92D-0C4946E56F9C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228629-6178-4363-BB6E-6083EF448F9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248F91-4812-4908-9337-5BBC001267CA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76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CampusHire connects the people, records and decisions involved in campus recruitment.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182428-8EC8-410A-8D6E-6660A87CF03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4AAF16-3DA8-4AD9-89FB-6045CF6D96C7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7150" cy="20955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F97C74-A8D5-446E-9290-DB5CDE8DCED9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students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34517-D52A-4315-B176-1728B0560ECD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27813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Discover eligible published drives</a:t>
            </a:r>
          </a:p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once per drive</a:t>
            </a:r>
          </a:p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Track applications and round progress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69F1A0-D39D-4AE5-9324-A812D5FD2AE4}"/>
              </a:ext>
            </a:extLst>
          </p:cNvPr>
          <p:cNvSpPr>
            <a:spLocks noGrp="1"/>
          </p:cNvSpPr>
          <p:nvPr/>
        </p:nvSpPr>
        <p:spPr>
          <a:xfrm>
            <a:off x="4524375" y="25717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4485DF-7DB4-4363-A8DC-5108C3F707F0}"/>
              </a:ext>
            </a:extLst>
          </p:cNvPr>
          <p:cNvSpPr>
            <a:spLocks noGrp="1"/>
          </p:cNvSpPr>
          <p:nvPr/>
        </p:nvSpPr>
        <p:spPr>
          <a:xfrm>
            <a:off x="4524375" y="2571750"/>
            <a:ext cx="57150" cy="209550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1221D7-3DF8-43AD-9659-AA2417DAE3D5}"/>
              </a:ext>
            </a:extLst>
          </p:cNvPr>
          <p:cNvSpPr>
            <a:spLocks noGrp="1"/>
          </p:cNvSpPr>
          <p:nvPr/>
        </p:nvSpPr>
        <p:spPr>
          <a:xfrm>
            <a:off x="4733925" y="2743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department TPOs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C9742-5813-4976-A3A2-A6FEC70EBBFD}"/>
              </a:ext>
            </a:extLst>
          </p:cNvPr>
          <p:cNvSpPr>
            <a:spLocks noGrp="1"/>
          </p:cNvSpPr>
          <p:nvPr/>
        </p:nvSpPr>
        <p:spPr>
          <a:xfrm>
            <a:off x="4733925" y="3086100"/>
            <a:ext cx="27813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and publish department drives</a:t>
            </a:r>
          </a:p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Manage candidates and recruitment rounds</a:t>
            </a:r>
          </a:p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Keep scope inside the assigned department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8D4181F-9540-4328-886D-7691D881B7EC}"/>
              </a:ext>
            </a:extLst>
          </p:cNvPr>
          <p:cNvSpPr>
            <a:spLocks noGrp="1"/>
          </p:cNvSpPr>
          <p:nvPr/>
        </p:nvSpPr>
        <p:spPr>
          <a:xfrm>
            <a:off x="8439150" y="25717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50C1AB-E997-4ED1-AF8F-F07D8ACAB8D6}"/>
              </a:ext>
            </a:extLst>
          </p:cNvPr>
          <p:cNvSpPr>
            <a:spLocks noGrp="1"/>
          </p:cNvSpPr>
          <p:nvPr/>
        </p:nvSpPr>
        <p:spPr>
          <a:xfrm>
            <a:off x="8439150" y="2571750"/>
            <a:ext cx="57150" cy="2095500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B64097-0C0A-4A9D-AA12-4A38524FCD63}"/>
              </a:ext>
            </a:extLst>
          </p:cNvPr>
          <p:cNvSpPr>
            <a:spLocks noGrp="1"/>
          </p:cNvSpPr>
          <p:nvPr/>
        </p:nvSpPr>
        <p:spPr>
          <a:xfrm>
            <a:off x="8648700" y="2743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the university TPO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4FD6F-922B-4CC9-B08F-815B2EEC0FDB}"/>
              </a:ext>
            </a:extLst>
          </p:cNvPr>
          <p:cNvSpPr>
            <a:spLocks noGrp="1"/>
          </p:cNvSpPr>
          <p:nvPr/>
        </p:nvSpPr>
        <p:spPr>
          <a:xfrm>
            <a:off x="8648700" y="3086100"/>
            <a:ext cx="27813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Coordinate university-wide activity</a:t>
            </a:r>
          </a:p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Manage department coordinators</a:t>
            </a:r>
          </a:p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See cross-department placement data</a:t>
            </a:r>
          </a:p>
        </p:txBody>
      </p:sp>
    </p:spTree>
    <p:extLst>
      <p:ext uri="{BB962C8B-B14F-4D97-AF65-F5344CB8AC3E}">
        <p14:creationId xmlns:p14="http://schemas.microsoft.com/office/powerpoint/2010/main" val="64465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B0022C9-D930-4072-8ED8-994AC943BD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92213-2497-459E-87BC-1B1DF195D13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B1D8F-D1EF-46E9-ACDA-19EE71F3CD87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placement problem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93FE82-60B4-4356-8469-BC26EED7574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31B56-07E2-4A63-9E4D-F67E40ED8BAC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D5ED9-82B4-47E4-B820-1F04E8ECBFF7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8A483-D8EB-4CCB-BE6F-AD35C66D969A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Manual coordination spreads information across messages, spreadsheets and separate records.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0CC8AE-F048-4730-AAF8-B8A525664BC8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14350" cy="514350"/>
          </a:xfrm>
          <a:prstGeom prst="ellipse">
            <a:avLst/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37C0F-6B7F-4788-A6AA-0D8CF99A9968}"/>
              </a:ext>
            </a:extLst>
          </p:cNvPr>
          <p:cNvSpPr>
            <a:spLocks noGrp="1"/>
          </p:cNvSpPr>
          <p:nvPr/>
        </p:nvSpPr>
        <p:spPr>
          <a:xfrm>
            <a:off x="6191250" y="17430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0167AD-7BA0-46F2-B37D-E8CCAD122846}"/>
              </a:ext>
            </a:extLst>
          </p:cNvPr>
          <p:cNvSpPr>
            <a:spLocks noGrp="1"/>
          </p:cNvSpPr>
          <p:nvPr/>
        </p:nvSpPr>
        <p:spPr>
          <a:xfrm>
            <a:off x="6953250" y="16383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Fragmented records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EB817A-F1F8-475A-A788-864C01B90937}"/>
              </a:ext>
            </a:extLst>
          </p:cNvPr>
          <p:cNvSpPr>
            <a:spLocks noGrp="1"/>
          </p:cNvSpPr>
          <p:nvPr/>
        </p:nvSpPr>
        <p:spPr>
          <a:xfrm>
            <a:off x="6953250" y="19240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Company, drive and student information can drift apart.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BB459D-CEFF-4074-A5F7-FED403EA3D40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514350" cy="514350"/>
          </a:xfrm>
          <a:prstGeom prst="ellipse">
            <a:avLst/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B88EFD-6D11-49F3-99FA-9FFD05D0D257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42302C-5148-4ACD-9027-EF7C77187440}"/>
              </a:ext>
            </a:extLst>
          </p:cNvPr>
          <p:cNvSpPr>
            <a:spLocks noGrp="1"/>
          </p:cNvSpPr>
          <p:nvPr/>
        </p:nvSpPr>
        <p:spPr>
          <a:xfrm>
            <a:off x="6953250" y="2638425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Unclear eligibility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20008B-B445-4203-9AC4-A09C3E5AC6AF}"/>
              </a:ext>
            </a:extLst>
          </p:cNvPr>
          <p:cNvSpPr>
            <a:spLocks noGrp="1"/>
          </p:cNvSpPr>
          <p:nvPr/>
        </p:nvSpPr>
        <p:spPr>
          <a:xfrm>
            <a:off x="6953250" y="292417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need a reliable answer about which drives they can see.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581CEA-0650-44DA-B754-A85AB029A318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514350" cy="514350"/>
          </a:xfrm>
          <a:prstGeom prst="ellipse">
            <a:avLst/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518C0B-8E4C-4A38-80DA-E543060D2A54}"/>
              </a:ext>
            </a:extLst>
          </p:cNvPr>
          <p:cNvSpPr>
            <a:spLocks noGrp="1"/>
          </p:cNvSpPr>
          <p:nvPr/>
        </p:nvSpPr>
        <p:spPr>
          <a:xfrm>
            <a:off x="6191250" y="3743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019419-838B-4A89-91F5-34FC949026BF}"/>
              </a:ext>
            </a:extLst>
          </p:cNvPr>
          <p:cNvSpPr>
            <a:spLocks noGrp="1"/>
          </p:cNvSpPr>
          <p:nvPr/>
        </p:nvSpPr>
        <p:spPr>
          <a:xfrm>
            <a:off x="6953250" y="36385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Department boundaries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D3BD2E-57B1-4689-98E5-AA8350E8687C}"/>
              </a:ext>
            </a:extLst>
          </p:cNvPr>
          <p:cNvSpPr>
            <a:spLocks noGrp="1"/>
          </p:cNvSpPr>
          <p:nvPr/>
        </p:nvSpPr>
        <p:spPr>
          <a:xfrm>
            <a:off x="6953250" y="39243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DTPO work must remain limited to the assigned department.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E0254C-F211-4EFF-9E4D-698B0EEBD2BC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514350" cy="514350"/>
          </a:xfrm>
          <a:prstGeom prst="ellipse">
            <a:avLst/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2333F1-DB0D-4703-9605-6F30E9E221F2}"/>
              </a:ext>
            </a:extLst>
          </p:cNvPr>
          <p:cNvSpPr>
            <a:spLocks noGrp="1"/>
          </p:cNvSpPr>
          <p:nvPr/>
        </p:nvSpPr>
        <p:spPr>
          <a:xfrm>
            <a:off x="6191250" y="4743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7D8D99-CBFB-497F-9F51-D5C37EEF1674}"/>
              </a:ext>
            </a:extLst>
          </p:cNvPr>
          <p:cNvSpPr>
            <a:spLocks noGrp="1"/>
          </p:cNvSpPr>
          <p:nvPr/>
        </p:nvSpPr>
        <p:spPr>
          <a:xfrm>
            <a:off x="6953250" y="4638675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Slow status updates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4B733D-249F-4732-BE97-9696A84F67AF}"/>
              </a:ext>
            </a:extLst>
          </p:cNvPr>
          <p:cNvSpPr>
            <a:spLocks noGrp="1"/>
          </p:cNvSpPr>
          <p:nvPr/>
        </p:nvSpPr>
        <p:spPr>
          <a:xfrm>
            <a:off x="6953250" y="492442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need visibility into applications and round outcomes.</a:t>
            </a:r>
          </a:p>
        </p:txBody>
      </p:sp>
    </p:spTree>
    <p:extLst>
      <p:ext uri="{BB962C8B-B14F-4D97-AF65-F5344CB8AC3E}">
        <p14:creationId xmlns:p14="http://schemas.microsoft.com/office/powerpoint/2010/main" val="26411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D2ABD10-BDA1-4654-9549-F05F574CE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4350F8-99B2-404F-98D3-D4CE135BAEF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08504-A55C-4DAC-82C2-3482048AEED2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5EE4C1D-51E8-4B6E-A610-F091862CBEA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EBF429-82E1-42EB-A44E-46F68E98811F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B2040-2741-4738-8098-1C672977468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124093-402C-4286-9CB2-5BB43D65E4E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143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050C39-F9F3-40C2-BD45-D9055AAB192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7150" cy="1381125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4D5376-FBB3-4767-8820-AD2EA0E2005B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478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01 · Secure identity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E04E75-2791-4563-981F-BC981C63542A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47815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Support students, DTPOs and UTPOs with JWT authentication and role-aware access.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88A75F-8ABF-4763-A5D3-D7259B2ABFE9}"/>
              </a:ext>
            </a:extLst>
          </p:cNvPr>
          <p:cNvSpPr>
            <a:spLocks noGrp="1"/>
          </p:cNvSpPr>
          <p:nvPr/>
        </p:nvSpPr>
        <p:spPr>
          <a:xfrm>
            <a:off x="6181725" y="1619250"/>
            <a:ext cx="5143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A837D-CEBD-4C05-A620-608DE7167E0E}"/>
              </a:ext>
            </a:extLst>
          </p:cNvPr>
          <p:cNvSpPr>
            <a:spLocks noGrp="1"/>
          </p:cNvSpPr>
          <p:nvPr/>
        </p:nvSpPr>
        <p:spPr>
          <a:xfrm>
            <a:off x="6181725" y="1619250"/>
            <a:ext cx="57150" cy="1381125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3E3AC-6FEA-4055-8EE8-92623331F7F6}"/>
              </a:ext>
            </a:extLst>
          </p:cNvPr>
          <p:cNvSpPr>
            <a:spLocks noGrp="1"/>
          </p:cNvSpPr>
          <p:nvPr/>
        </p:nvSpPr>
        <p:spPr>
          <a:xfrm>
            <a:off x="6391275" y="1790700"/>
            <a:ext cx="478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02 · Structured placement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143C8-F0B5-4FAD-A2C4-32FD287FB5E1}"/>
              </a:ext>
            </a:extLst>
          </p:cNvPr>
          <p:cNvSpPr>
            <a:spLocks noGrp="1"/>
          </p:cNvSpPr>
          <p:nvPr/>
        </p:nvSpPr>
        <p:spPr>
          <a:xfrm>
            <a:off x="6391275" y="2133600"/>
            <a:ext cx="47815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Keep companies, drives, applications and outcomes connected in PostgreSQL.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B4F1B6A-B8A5-4989-9B8D-79D454F5289A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5143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A22087-BFCB-40E8-BC08-9A139B05D208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57150" cy="1381125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878B60-E12F-41C8-919A-E95CFDD94264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478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03 · Department-aware access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5FF84F-4997-4C1C-B8A7-ECB99B902E81}"/>
              </a:ext>
            </a:extLst>
          </p:cNvPr>
          <p:cNvSpPr>
            <a:spLocks noGrp="1"/>
          </p:cNvSpPr>
          <p:nvPr/>
        </p:nvSpPr>
        <p:spPr>
          <a:xfrm>
            <a:off x="819150" y="3943350"/>
            <a:ext cx="47815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Enforce DTPO scope in backend services, not only in the UI.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FB133C4-7D0E-4FAE-84DE-D91F43D10CD6}"/>
              </a:ext>
            </a:extLst>
          </p:cNvPr>
          <p:cNvSpPr>
            <a:spLocks noGrp="1"/>
          </p:cNvSpPr>
          <p:nvPr/>
        </p:nvSpPr>
        <p:spPr>
          <a:xfrm>
            <a:off x="6181725" y="3429000"/>
            <a:ext cx="5143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DA5F2D-5FBE-4AA3-8894-74D318F52219}"/>
              </a:ext>
            </a:extLst>
          </p:cNvPr>
          <p:cNvSpPr>
            <a:spLocks noGrp="1"/>
          </p:cNvSpPr>
          <p:nvPr/>
        </p:nvSpPr>
        <p:spPr>
          <a:xfrm>
            <a:off x="6181725" y="3429000"/>
            <a:ext cx="57150" cy="1381125"/>
          </a:xfrm>
          <a:prstGeom prst="rect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A53E9C-5ADC-48B3-8414-6D2DFB3107E3}"/>
              </a:ext>
            </a:extLst>
          </p:cNvPr>
          <p:cNvSpPr>
            <a:spLocks noGrp="1"/>
          </p:cNvSpPr>
          <p:nvPr/>
        </p:nvSpPr>
        <p:spPr>
          <a:xfrm>
            <a:off x="6391275" y="3600450"/>
            <a:ext cx="478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04 · Transparent progress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4DE17F-BB28-4B37-88D9-AD6FB5560FF4}"/>
              </a:ext>
            </a:extLst>
          </p:cNvPr>
          <p:cNvSpPr>
            <a:spLocks noGrp="1"/>
          </p:cNvSpPr>
          <p:nvPr/>
        </p:nvSpPr>
        <p:spPr>
          <a:xfrm>
            <a:off x="6391275" y="3943350"/>
            <a:ext cx="47815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Expose published recruitment results to the student who owns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174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767A29-1DBE-4504-9D18-A8EE8BAEC1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CC6684-2D75-432F-9817-15FE6464DFA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825D0-AD58-4B30-BC0E-9E8E4B7C33B6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Existing workflow and proposed platform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6598CD4-3260-4CEF-80CA-413A7D903D5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79170-C3A0-42F7-A2CA-1ADA26F31AB0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873367-F9EE-404C-904A-258FB353248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2339D6-481F-499B-A76C-7AF3D5721F73}"/>
              </a:ext>
            </a:extLst>
          </p:cNvPr>
          <p:cNvGraphicFramePr/>
          <p:nvPr/>
        </p:nvGraphicFramePr>
        <p:xfrm>
          <a:off x="609600" y="1619250"/>
          <a:ext cx="10972800" cy="3714750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Fragmented workflow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CampusHire approach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Student discovery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Messages and scattered notices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Published drives filtered by eligibility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Applications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Separate forms or records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One application per student and drive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Staff scope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Manual department filtering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authorization for DTPO and UTPO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Recruitment progress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Status updates are difficult to trace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Ordered rounds with publishable results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Reporting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Repeated manual compilation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Live staff lists and dashboard aggregates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52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3CEFFB-D0DC-4985-8D90-95A4DA5E4E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09541-E99F-49A9-96F9-1462121CCF6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SCOPE AND ROLES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ACAD6-0AA0-4C91-B48E-35D0D92EEF2D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Roles and access boundaries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4AD94FF-F9B1-41AB-9F40-E5B4EC349E8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32BB6-38EF-421C-A5CA-AF8B5BCBDE52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7FA715-3BFB-4E8A-A324-4AFC6FCA00B8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C0C78C-33AE-494B-93BB-1DDBBB026D17}"/>
              </a:ext>
            </a:extLst>
          </p:cNvPr>
          <p:cNvGraphicFramePr/>
          <p:nvPr/>
        </p:nvGraphicFramePr>
        <p:xfrm>
          <a:off x="609600" y="1676400"/>
          <a:ext cx="10972800" cy="2857500"/>
        </p:xfrm>
        <a:graphic>
          <a:graphicData uri="http://schemas.openxmlformats.org/drawingml/2006/table">
            <a:tbl>
              <a:tblPr firstRow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view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Management scope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Student-facing effect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Flutter app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Own profile and applications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Sees eligible published drives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DTPO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dashboard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Assigned department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Creates department drives and manages rounds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UTPO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dashboard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University-wide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Manages coordinators and university-wide activity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8DEA9E6-76C4-4763-ACAA-F89E3A6C48BB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server derives scope from the authenticated account and its department assignment.</a:t>
            </a:r>
          </a:p>
        </p:txBody>
      </p:sp>
    </p:spTree>
    <p:extLst>
      <p:ext uri="{BB962C8B-B14F-4D97-AF65-F5344CB8AC3E}">
        <p14:creationId xmlns:p14="http://schemas.microsoft.com/office/powerpoint/2010/main" val="158325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493BC3C-63CE-4B75-83E8-A3C105A27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CDC87-56FB-42EA-9BBD-7601DF1845E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4E82FB-343A-4006-B108-4594F73BF14C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3D9A771-66D9-449F-A272-A6CB24BB02A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75F75-C1E2-49B6-81B3-86A91338DEA9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10EF5C-5CAD-4278-BAAA-EB09CF7A2216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6B1863-8DE2-4D27-AD20-C4D6A6BC1F6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C9D83-E192-49AD-8B4E-256D9D49B144}"/>
              </a:ext>
            </a:extLst>
          </p:cNvPr>
          <p:cNvSpPr>
            <a:spLocks noGrp="1"/>
          </p:cNvSpPr>
          <p:nvPr/>
        </p:nvSpPr>
        <p:spPr>
          <a:xfrm>
            <a:off x="800100" y="1647825"/>
            <a:ext cx="1857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505106-0F74-4568-B6F6-ACA33F008C26}"/>
              </a:ext>
            </a:extLst>
          </p:cNvPr>
          <p:cNvSpPr>
            <a:spLocks noGrp="1"/>
          </p:cNvSpPr>
          <p:nvPr/>
        </p:nvSpPr>
        <p:spPr>
          <a:xfrm>
            <a:off x="3238500" y="16002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mobile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1246C-A034-4EA2-A2FF-101B3C2D8DD3}"/>
              </a:ext>
            </a:extLst>
          </p:cNvPr>
          <p:cNvSpPr>
            <a:spLocks noGrp="1"/>
          </p:cNvSpPr>
          <p:nvPr/>
        </p:nvSpPr>
        <p:spPr>
          <a:xfrm>
            <a:off x="6286500" y="16002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drives, applications and profile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AF8E341-8D72-4D43-AA60-78CE894938F0}"/>
              </a:ext>
            </a:extLst>
          </p:cNvPr>
          <p:cNvSpPr>
            <a:spLocks noGrp="1"/>
          </p:cNvSpPr>
          <p:nvPr/>
        </p:nvSpPr>
        <p:spPr>
          <a:xfrm>
            <a:off x="2895600" y="1819275"/>
            <a:ext cx="2190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5C2F26D-A01A-42C5-ABB7-2AF85479416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A8A00-035D-4CEE-B5BB-DA7A989BB408}"/>
              </a:ext>
            </a:extLst>
          </p:cNvPr>
          <p:cNvSpPr>
            <a:spLocks noGrp="1"/>
          </p:cNvSpPr>
          <p:nvPr/>
        </p:nvSpPr>
        <p:spPr>
          <a:xfrm>
            <a:off x="800100" y="2486025"/>
            <a:ext cx="1857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10E5C3-9FAD-40F8-B5FC-40E5FA88B1C2}"/>
              </a:ext>
            </a:extLst>
          </p:cNvPr>
          <p:cNvSpPr>
            <a:spLocks noGrp="1"/>
          </p:cNvSpPr>
          <p:nvPr/>
        </p:nvSpPr>
        <p:spPr>
          <a:xfrm>
            <a:off x="3238500" y="24384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workspace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31B69F-52ED-4A04-9E89-4D9312F93019}"/>
              </a:ext>
            </a:extLst>
          </p:cNvPr>
          <p:cNvSpPr>
            <a:spLocks noGrp="1"/>
          </p:cNvSpPr>
          <p:nvPr/>
        </p:nvSpPr>
        <p:spPr>
          <a:xfrm>
            <a:off x="6286500" y="24384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UTPO and DTPO dashboards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AB6938D-A25E-4476-B042-7A5F0F0BFC47}"/>
              </a:ext>
            </a:extLst>
          </p:cNvPr>
          <p:cNvSpPr>
            <a:spLocks noGrp="1"/>
          </p:cNvSpPr>
          <p:nvPr/>
        </p:nvSpPr>
        <p:spPr>
          <a:xfrm>
            <a:off x="2895600" y="2657475"/>
            <a:ext cx="2190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2032A5E-F468-4963-B6F1-93357B2D1216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AD18DA-0953-4CA6-99EB-A2868D2A9E62}"/>
              </a:ext>
            </a:extLst>
          </p:cNvPr>
          <p:cNvSpPr>
            <a:spLocks noGrp="1"/>
          </p:cNvSpPr>
          <p:nvPr/>
        </p:nvSpPr>
        <p:spPr>
          <a:xfrm>
            <a:off x="800100" y="3324225"/>
            <a:ext cx="1857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79648D-4F93-4757-A13D-ACD5D35FD797}"/>
              </a:ext>
            </a:extLst>
          </p:cNvPr>
          <p:cNvSpPr>
            <a:spLocks noGrp="1"/>
          </p:cNvSpPr>
          <p:nvPr/>
        </p:nvSpPr>
        <p:spPr>
          <a:xfrm>
            <a:off x="3238500" y="32766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REST API and business rules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2FB612-5F23-487A-9F02-2358B1656456}"/>
              </a:ext>
            </a:extLst>
          </p:cNvPr>
          <p:cNvSpPr>
            <a:spLocks noGrp="1"/>
          </p:cNvSpPr>
          <p:nvPr/>
        </p:nvSpPr>
        <p:spPr>
          <a:xfrm>
            <a:off x="6286500" y="32766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Authentication, placement and recruitment services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0973D0B-C1CD-4B4E-981A-B6D83B483069}"/>
              </a:ext>
            </a:extLst>
          </p:cNvPr>
          <p:cNvSpPr>
            <a:spLocks noGrp="1"/>
          </p:cNvSpPr>
          <p:nvPr/>
        </p:nvSpPr>
        <p:spPr>
          <a:xfrm>
            <a:off x="2895600" y="3495675"/>
            <a:ext cx="2190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9DFF061-9AC0-42C0-A63A-8AA7EFC42008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F284E8-7366-41F7-BFAE-1BB6D31CFE22}"/>
              </a:ext>
            </a:extLst>
          </p:cNvPr>
          <p:cNvSpPr>
            <a:spLocks noGrp="1"/>
          </p:cNvSpPr>
          <p:nvPr/>
        </p:nvSpPr>
        <p:spPr>
          <a:xfrm>
            <a:off x="800100" y="4162425"/>
            <a:ext cx="1857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243E7F-7ACB-4D3C-A157-DCE0CAF1A300}"/>
              </a:ext>
            </a:extLst>
          </p:cNvPr>
          <p:cNvSpPr>
            <a:spLocks noGrp="1"/>
          </p:cNvSpPr>
          <p:nvPr/>
        </p:nvSpPr>
        <p:spPr>
          <a:xfrm>
            <a:off x="3238500" y="41148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Persistent data store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3948F4-1AFD-45EF-BFCA-0FA2D928BF4D}"/>
              </a:ext>
            </a:extLst>
          </p:cNvPr>
          <p:cNvSpPr>
            <a:spLocks noGrp="1"/>
          </p:cNvSpPr>
          <p:nvPr/>
        </p:nvSpPr>
        <p:spPr>
          <a:xfrm>
            <a:off x="6286500" y="4114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Users, departments, drives, applications and results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2DF9947-5E26-491C-849C-42A399EE4A10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2190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6E0D7CC-2AE1-464C-92AE-5C03E94C8C22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EAF2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088694-7994-4F1C-AEFB-B32B91A46496}"/>
              </a:ext>
            </a:extLst>
          </p:cNvPr>
          <p:cNvSpPr>
            <a:spLocks noGrp="1"/>
          </p:cNvSpPr>
          <p:nvPr/>
        </p:nvSpPr>
        <p:spPr>
          <a:xfrm>
            <a:off x="800100" y="5000625"/>
            <a:ext cx="1857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JWT + BCrypt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A1969F-13C5-4101-A56E-C4B7A33C0FA3}"/>
              </a:ext>
            </a:extLst>
          </p:cNvPr>
          <p:cNvSpPr>
            <a:spLocks noGrp="1"/>
          </p:cNvSpPr>
          <p:nvPr/>
        </p:nvSpPr>
        <p:spPr>
          <a:xfrm>
            <a:off x="3238500" y="49530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Security foundation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029F12-5F1F-4B43-B759-649EFC1BC848}"/>
              </a:ext>
            </a:extLst>
          </p:cNvPr>
          <p:cNvSpPr>
            <a:spLocks noGrp="1"/>
          </p:cNvSpPr>
          <p:nvPr/>
        </p:nvSpPr>
        <p:spPr>
          <a:xfrm>
            <a:off x="6286500" y="49530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Signed sessions and password hashing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60D9E19E-D194-42FE-B502-F45A5B90674C}"/>
              </a:ext>
            </a:extLst>
          </p:cNvPr>
          <p:cNvSpPr>
            <a:spLocks noGrp="1"/>
          </p:cNvSpPr>
          <p:nvPr/>
        </p:nvSpPr>
        <p:spPr>
          <a:xfrm>
            <a:off x="2895600" y="5172075"/>
            <a:ext cx="2190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D56432B-F84E-4E49-AA58-9CE2E15DAE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37207F-3ED6-4BE1-9455-EBE2B0DF50B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C28FC3-5BBE-4A14-8A80-CE834525BFC2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105B307-890F-4CB9-B24B-85FC3F2889A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F3E0E-B2CA-4E8D-8C93-FA9789DE6117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BC60F-4EB3-436A-9931-51D798EF189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C2B5AF-C628-4924-99D3-63AE5203E72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571750" cy="876300"/>
          </a:xfrm>
          <a:prstGeom prst="roundRect">
            <a:avLst>
              <a:gd name="adj" fmla="val 13043"/>
            </a:avLst>
          </a:prstGeom>
          <a:solidFill>
            <a:srgbClr val="EAF2FB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90649-602D-474E-90DC-6231C070E21B}"/>
              </a:ext>
            </a:extLst>
          </p:cNvPr>
          <p:cNvSpPr>
            <a:spLocks noGrp="1"/>
          </p:cNvSpPr>
          <p:nvPr/>
        </p:nvSpPr>
        <p:spPr>
          <a:xfrm>
            <a:off x="952500" y="19812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F7B76-E727-48E5-B856-F8271123F1F6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3BDFBD-66D4-45B7-921E-BC8AC3920F5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571750" cy="876300"/>
          </a:xfrm>
          <a:prstGeom prst="roundRect">
            <a:avLst>
              <a:gd name="adj" fmla="val 13043"/>
            </a:avLst>
          </a:prstGeom>
          <a:solidFill>
            <a:srgbClr val="EAF2FB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4E39D-C3DA-433B-8F9C-4D3D14FD8B64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22C532-38F6-496F-ACBB-79ECF9A2F909}"/>
              </a:ext>
            </a:extLst>
          </p:cNvPr>
          <p:cNvSpPr>
            <a:spLocks noGrp="1"/>
          </p:cNvSpPr>
          <p:nvPr/>
        </p:nvSpPr>
        <p:spPr>
          <a:xfrm>
            <a:off x="952500" y="45910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BCECF3-4D4B-456F-851B-AF0DB25D72CE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2571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06FEE8-A8B4-4732-B265-963098ECDDC0}"/>
              </a:ext>
            </a:extLst>
          </p:cNvPr>
          <p:cNvSpPr>
            <a:spLocks noGrp="1"/>
          </p:cNvSpPr>
          <p:nvPr/>
        </p:nvSpPr>
        <p:spPr>
          <a:xfrm>
            <a:off x="4667250" y="30289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D72659-7195-470E-8CB2-F001ACA77E86}"/>
              </a:ext>
            </a:extLst>
          </p:cNvPr>
          <p:cNvSpPr>
            <a:spLocks noGrp="1"/>
          </p:cNvSpPr>
          <p:nvPr/>
        </p:nvSpPr>
        <p:spPr>
          <a:xfrm>
            <a:off x="4667250" y="33528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9624DF3-629D-459F-A128-45E429CE18E0}"/>
              </a:ext>
            </a:extLst>
          </p:cNvPr>
          <p:cNvSpPr>
            <a:spLocks noGrp="1"/>
          </p:cNvSpPr>
          <p:nvPr/>
        </p:nvSpPr>
        <p:spPr>
          <a:xfrm>
            <a:off x="8286750" y="2857500"/>
            <a:ext cx="2571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CEC86C-E0C6-4592-8DA5-20D496093902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EA4A9E-F3FB-445D-8770-85393D505D33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6533842-0652-4403-AD55-591B76C5309B}"/>
              </a:ext>
            </a:extLst>
          </p:cNvPr>
          <p:cNvSpPr>
            <a:spLocks noGrp="1"/>
          </p:cNvSpPr>
          <p:nvPr/>
        </p:nvSpPr>
        <p:spPr>
          <a:xfrm>
            <a:off x="3333750" y="2247900"/>
            <a:ext cx="1143000" cy="101917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B27555C-4D68-4D60-9076-10FCC000E90C}"/>
              </a:ext>
            </a:extLst>
          </p:cNvPr>
          <p:cNvSpPr>
            <a:spLocks noGrp="1"/>
          </p:cNvSpPr>
          <p:nvPr/>
        </p:nvSpPr>
        <p:spPr>
          <a:xfrm flipV="1">
            <a:off x="3333750" y="3743325"/>
            <a:ext cx="1143000" cy="79057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EAAA530-B359-4031-98C6-8F438390AD0B}"/>
              </a:ext>
            </a:extLst>
          </p:cNvPr>
          <p:cNvSpPr>
            <a:spLocks noGrp="1"/>
          </p:cNvSpPr>
          <p:nvPr/>
        </p:nvSpPr>
        <p:spPr>
          <a:xfrm>
            <a:off x="7048500" y="3295650"/>
            <a:ext cx="123825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CB6C4A-A99D-48F7-83A1-AD270BE1E55D}"/>
              </a:ext>
            </a:extLst>
          </p:cNvPr>
          <p:cNvSpPr>
            <a:spLocks noGrp="1"/>
          </p:cNvSpPr>
          <p:nvPr/>
        </p:nvSpPr>
        <p:spPr>
          <a:xfrm>
            <a:off x="3638550" y="22098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JWT-secured HTTP requests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27607F-EEF1-4894-B086-3E42E5E291EA}"/>
              </a:ext>
            </a:extLst>
          </p:cNvPr>
          <p:cNvSpPr>
            <a:spLocks noGrp="1"/>
          </p:cNvSpPr>
          <p:nvPr/>
        </p:nvSpPr>
        <p:spPr>
          <a:xfrm>
            <a:off x="7067550" y="2971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JPA repositories and migrations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4AAA1A-753C-436A-9871-3EAA784069E5}"/>
              </a:ext>
            </a:extLst>
          </p:cNvPr>
          <p:cNvSpPr>
            <a:spLocks noGrp="1"/>
          </p:cNvSpPr>
          <p:nvPr/>
        </p:nvSpPr>
        <p:spPr>
          <a:xfrm>
            <a:off x="2857500" y="5572125"/>
            <a:ext cx="647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clients stay thin: visibility, eligibility and authorization are enforced by the backend.</a:t>
            </a:r>
          </a:p>
        </p:txBody>
      </p:sp>
    </p:spTree>
    <p:extLst>
      <p:ext uri="{BB962C8B-B14F-4D97-AF65-F5344CB8AC3E}">
        <p14:creationId xmlns:p14="http://schemas.microsoft.com/office/powerpoint/2010/main" val="21304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6012919-53CD-485C-A13E-57DAE52DD2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99B763-08B0-40B3-A511-B7CA0C0DFC5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REQUIREMENTS AND ACTORS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B92B21-3616-4BE7-8D1E-122D7771879F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case diagram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4197674-E778-4425-80DE-BCE3400CEBB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7724BE-20C6-44F5-9B0B-52A9C1C83783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7633B9-A354-4671-B76F-FD08844BFEA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034495-4A19-4AC9-8AA8-B4DC3EC83030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685800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24110-B67C-491C-A8F9-8E7237F9DA4D}"/>
              </a:ext>
            </a:extLst>
          </p:cNvPr>
          <p:cNvSpPr>
            <a:spLocks noGrp="1"/>
          </p:cNvSpPr>
          <p:nvPr/>
        </p:nvSpPr>
        <p:spPr>
          <a:xfrm>
            <a:off x="3143250" y="1695450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CampusHire Placement Management System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A50A54-27C1-491F-B00B-1FACC39CC19C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2C6208-D1FF-4962-B0F8-C79035BD5579}"/>
              </a:ext>
            </a:extLst>
          </p:cNvPr>
          <p:cNvSpPr>
            <a:spLocks noGrp="1"/>
          </p:cNvSpPr>
          <p:nvPr/>
        </p:nvSpPr>
        <p:spPr>
          <a:xfrm>
            <a:off x="3571875" y="23050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Authenticate / view /api/me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6930B0-7D2A-44F1-9B56-E50F701278AF}"/>
              </a:ext>
            </a:extLst>
          </p:cNvPr>
          <p:cNvSpPr>
            <a:spLocks noGrp="1"/>
          </p:cNvSpPr>
          <p:nvPr/>
        </p:nvSpPr>
        <p:spPr>
          <a:xfrm>
            <a:off x="3476625" y="285750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8A5F0-EFE5-4FB9-9D0A-F69AD61DBF7D}"/>
              </a:ext>
            </a:extLst>
          </p:cNvPr>
          <p:cNvSpPr>
            <a:spLocks noGrp="1"/>
          </p:cNvSpPr>
          <p:nvPr/>
        </p:nvSpPr>
        <p:spPr>
          <a:xfrm>
            <a:off x="3571875" y="29718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Manage profile and photo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E59143-134F-4650-B83A-1B6FD246178B}"/>
              </a:ext>
            </a:extLst>
          </p:cNvPr>
          <p:cNvSpPr>
            <a:spLocks noGrp="1"/>
          </p:cNvSpPr>
          <p:nvPr/>
        </p:nvSpPr>
        <p:spPr>
          <a:xfrm>
            <a:off x="3476625" y="352425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03F370-152C-4BBE-B710-7A8FDA77D84E}"/>
              </a:ext>
            </a:extLst>
          </p:cNvPr>
          <p:cNvSpPr>
            <a:spLocks noGrp="1"/>
          </p:cNvSpPr>
          <p:nvPr/>
        </p:nvSpPr>
        <p:spPr>
          <a:xfrm>
            <a:off x="3571875" y="36385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Browse eligible published drives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909E41-118B-46CF-A09D-361B2BEDF28C}"/>
              </a:ext>
            </a:extLst>
          </p:cNvPr>
          <p:cNvSpPr>
            <a:spLocks noGrp="1"/>
          </p:cNvSpPr>
          <p:nvPr/>
        </p:nvSpPr>
        <p:spPr>
          <a:xfrm>
            <a:off x="3476625" y="419100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B82D0-1EE8-4188-BC9B-2BB010BC87E6}"/>
              </a:ext>
            </a:extLst>
          </p:cNvPr>
          <p:cNvSpPr>
            <a:spLocks noGrp="1"/>
          </p:cNvSpPr>
          <p:nvPr/>
        </p:nvSpPr>
        <p:spPr>
          <a:xfrm>
            <a:off x="3571875" y="43053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Apply and track progress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773F6A-6C39-45DA-AC35-2A7AC41324FB}"/>
              </a:ext>
            </a:extLst>
          </p:cNvPr>
          <p:cNvSpPr>
            <a:spLocks noGrp="1"/>
          </p:cNvSpPr>
          <p:nvPr/>
        </p:nvSpPr>
        <p:spPr>
          <a:xfrm>
            <a:off x="6715125" y="219075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36BC2-1FF6-43F6-AED0-33F1B9D13931}"/>
              </a:ext>
            </a:extLst>
          </p:cNvPr>
          <p:cNvSpPr>
            <a:spLocks noGrp="1"/>
          </p:cNvSpPr>
          <p:nvPr/>
        </p:nvSpPr>
        <p:spPr>
          <a:xfrm>
            <a:off x="6810375" y="23050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Manage companies and drives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4BD575-4EA8-41B9-B109-A8C6F41F107F}"/>
              </a:ext>
            </a:extLst>
          </p:cNvPr>
          <p:cNvSpPr>
            <a:spLocks noGrp="1"/>
          </p:cNvSpPr>
          <p:nvPr/>
        </p:nvSpPr>
        <p:spPr>
          <a:xfrm>
            <a:off x="6715125" y="285750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8237AE-EC5E-4CFE-BFDA-9B8C0E1411C8}"/>
              </a:ext>
            </a:extLst>
          </p:cNvPr>
          <p:cNvSpPr>
            <a:spLocks noGrp="1"/>
          </p:cNvSpPr>
          <p:nvPr/>
        </p:nvSpPr>
        <p:spPr>
          <a:xfrm>
            <a:off x="6810375" y="29718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Publish drives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BE48A6-A22E-4755-8BDA-0B4493843F68}"/>
              </a:ext>
            </a:extLst>
          </p:cNvPr>
          <p:cNvSpPr>
            <a:spLocks noGrp="1"/>
          </p:cNvSpPr>
          <p:nvPr/>
        </p:nvSpPr>
        <p:spPr>
          <a:xfrm>
            <a:off x="6715125" y="352425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1CC6B-F3A4-493B-A669-69B87EA1FDF1}"/>
              </a:ext>
            </a:extLst>
          </p:cNvPr>
          <p:cNvSpPr>
            <a:spLocks noGrp="1"/>
          </p:cNvSpPr>
          <p:nvPr/>
        </p:nvSpPr>
        <p:spPr>
          <a:xfrm>
            <a:off x="6810375" y="36385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Manage rounds and results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BF6738-543F-4A17-8BAE-1F04D6DE9062}"/>
              </a:ext>
            </a:extLst>
          </p:cNvPr>
          <p:cNvSpPr>
            <a:spLocks noGrp="1"/>
          </p:cNvSpPr>
          <p:nvPr/>
        </p:nvSpPr>
        <p:spPr>
          <a:xfrm>
            <a:off x="6715125" y="4191000"/>
            <a:ext cx="2381250" cy="438150"/>
          </a:xfrm>
          <a:prstGeom prst="ellipse">
            <a:avLst/>
          </a:prstGeom>
          <a:solidFill>
            <a:srgbClr val="EAF2FB"/>
          </a:solidFill>
          <a:ln w="952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6A1439-296B-42E9-857A-151EB5774D82}"/>
              </a:ext>
            </a:extLst>
          </p:cNvPr>
          <p:cNvSpPr>
            <a:spLocks noGrp="1"/>
          </p:cNvSpPr>
          <p:nvPr/>
        </p:nvSpPr>
        <p:spPr>
          <a:xfrm>
            <a:off x="6810375" y="43053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Create / list DTPO coordinators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E8863CD-F63A-4550-A2AC-BDBBED406BF1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55F519-63A0-40CB-B40F-860009F56E11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43B2086-6730-4E9C-8A82-2199C1E43BCF}"/>
              </a:ext>
            </a:extLst>
          </p:cNvPr>
          <p:cNvSpPr>
            <a:spLocks noGrp="1"/>
          </p:cNvSpPr>
          <p:nvPr/>
        </p:nvSpPr>
        <p:spPr>
          <a:xfrm>
            <a:off x="10096500" y="2857500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A85A17-F278-442A-A825-B089714A04F7}"/>
              </a:ext>
            </a:extLst>
          </p:cNvPr>
          <p:cNvSpPr>
            <a:spLocks noGrp="1"/>
          </p:cNvSpPr>
          <p:nvPr/>
        </p:nvSpPr>
        <p:spPr>
          <a:xfrm>
            <a:off x="10191750" y="300990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DTPO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B8F02C0-80BD-426E-9589-BF990AF28D51}"/>
              </a:ext>
            </a:extLst>
          </p:cNvPr>
          <p:cNvSpPr>
            <a:spLocks noGrp="1"/>
          </p:cNvSpPr>
          <p:nvPr/>
        </p:nvSpPr>
        <p:spPr>
          <a:xfrm>
            <a:off x="10096500" y="4476750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D36F9C-92C4-4AFF-98E6-2955295E94E8}"/>
              </a:ext>
            </a:extLst>
          </p:cNvPr>
          <p:cNvSpPr>
            <a:spLocks noGrp="1"/>
          </p:cNvSpPr>
          <p:nvPr/>
        </p:nvSpPr>
        <p:spPr>
          <a:xfrm>
            <a:off x="10191750" y="4629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UTPO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81D3A01-C21C-4C53-8544-C09807455339}"/>
              </a:ext>
            </a:extLst>
          </p:cNvPr>
          <p:cNvSpPr>
            <a:spLocks noGrp="1"/>
          </p:cNvSpPr>
          <p:nvPr/>
        </p:nvSpPr>
        <p:spPr>
          <a:xfrm flipV="1">
            <a:off x="2114550" y="2409826"/>
            <a:ext cx="1362075" cy="57150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B0069748-DCA5-4482-87CE-2981F8D05238}"/>
              </a:ext>
            </a:extLst>
          </p:cNvPr>
          <p:cNvSpPr>
            <a:spLocks noGrp="1"/>
          </p:cNvSpPr>
          <p:nvPr/>
        </p:nvSpPr>
        <p:spPr>
          <a:xfrm>
            <a:off x="2114550" y="2981325"/>
            <a:ext cx="1362075" cy="9525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1A14E7BA-9347-48A5-B70E-874C604008D8}"/>
              </a:ext>
            </a:extLst>
          </p:cNvPr>
          <p:cNvSpPr>
            <a:spLocks noGrp="1"/>
          </p:cNvSpPr>
          <p:nvPr/>
        </p:nvSpPr>
        <p:spPr>
          <a:xfrm>
            <a:off x="2114550" y="2981325"/>
            <a:ext cx="1362075" cy="76200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B2049D65-31E8-48B2-9DFD-CFAD76C38D0D}"/>
              </a:ext>
            </a:extLst>
          </p:cNvPr>
          <p:cNvSpPr>
            <a:spLocks noGrp="1"/>
          </p:cNvSpPr>
          <p:nvPr/>
        </p:nvSpPr>
        <p:spPr>
          <a:xfrm>
            <a:off x="2114550" y="2981325"/>
            <a:ext cx="1362075" cy="142875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48FEF372-7D29-4925-A1E7-2C380DA74BA5}"/>
              </a:ext>
            </a:extLst>
          </p:cNvPr>
          <p:cNvSpPr>
            <a:spLocks noGrp="1"/>
          </p:cNvSpPr>
          <p:nvPr/>
        </p:nvSpPr>
        <p:spPr>
          <a:xfrm>
            <a:off x="9096375" y="2409825"/>
            <a:ext cx="1000125" cy="71437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483AC3F7-0327-46B8-9DFD-0017DCA09ADC}"/>
              </a:ext>
            </a:extLst>
          </p:cNvPr>
          <p:cNvSpPr>
            <a:spLocks noGrp="1"/>
          </p:cNvSpPr>
          <p:nvPr/>
        </p:nvSpPr>
        <p:spPr>
          <a:xfrm>
            <a:off x="9096375" y="3076575"/>
            <a:ext cx="1000125" cy="476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276DFCD0-33CB-4C96-9BA2-86E064CC1EFE}"/>
              </a:ext>
            </a:extLst>
          </p:cNvPr>
          <p:cNvSpPr>
            <a:spLocks noGrp="1"/>
          </p:cNvSpPr>
          <p:nvPr/>
        </p:nvSpPr>
        <p:spPr>
          <a:xfrm>
            <a:off x="9096375" y="3743325"/>
            <a:ext cx="100012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4AB085BA-B06A-41C7-89A1-9477621F876A}"/>
              </a:ext>
            </a:extLst>
          </p:cNvPr>
          <p:cNvSpPr>
            <a:spLocks noGrp="1"/>
          </p:cNvSpPr>
          <p:nvPr/>
        </p:nvSpPr>
        <p:spPr>
          <a:xfrm>
            <a:off x="9096375" y="4410075"/>
            <a:ext cx="1000125" cy="33337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5D34E-42EC-415E-9C2F-4AE01227E442}"/>
              </a:ext>
            </a:extLst>
          </p:cNvPr>
          <p:cNvSpPr>
            <a:spLocks noGrp="1"/>
          </p:cNvSpPr>
          <p:nvPr/>
        </p:nvSpPr>
        <p:spPr>
          <a:xfrm>
            <a:off x="2952750" y="58293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Server-side role and department scope applies to every protected use case.</a:t>
            </a:r>
          </a:p>
        </p:txBody>
      </p:sp>
    </p:spTree>
    <p:extLst>
      <p:ext uri="{BB962C8B-B14F-4D97-AF65-F5344CB8AC3E}">
        <p14:creationId xmlns:p14="http://schemas.microsoft.com/office/powerpoint/2010/main" val="63949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3CD707B-2AAD-418F-AE76-D1744EE056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54293A-9C38-492B-8040-97A0AAA980E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BUSINESS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82A61-DB88-45FC-A58B-9720B89B5549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Activity diagram: application and recruitment flow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46005F1-47AE-4857-A422-B333D6F12BD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6DD7B9-1F1C-4FC6-9071-CAEC89F6A3CA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24A13C-BAAE-44B4-A07D-832D817E4ED3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87818A-B0BC-4AF3-92DB-9DBF9F917518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190625" cy="457200"/>
          </a:xfrm>
          <a:prstGeom prst="ellipse">
            <a:avLst/>
          </a:prstGeom>
          <a:solidFill>
            <a:srgbClr val="0B1F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48A87-948C-45C4-B97A-669347E74146}"/>
              </a:ext>
            </a:extLst>
          </p:cNvPr>
          <p:cNvSpPr>
            <a:spLocks noGrp="1"/>
          </p:cNvSpPr>
          <p:nvPr/>
        </p:nvSpPr>
        <p:spPr>
          <a:xfrm>
            <a:off x="857250" y="2352675"/>
            <a:ext cx="100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1E1E7F2-3BF1-4794-9DCB-80A5AE407838}"/>
              </a:ext>
            </a:extLst>
          </p:cNvPr>
          <p:cNvSpPr>
            <a:spLocks noGrp="1"/>
          </p:cNvSpPr>
          <p:nvPr/>
        </p:nvSpPr>
        <p:spPr>
          <a:xfrm>
            <a:off x="1952625" y="2466975"/>
            <a:ext cx="3810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6FD24E-B0F8-4835-85FF-052E75F0D891}"/>
              </a:ext>
            </a:extLst>
          </p:cNvPr>
          <p:cNvSpPr>
            <a:spLocks noGrp="1"/>
          </p:cNvSpPr>
          <p:nvPr/>
        </p:nvSpPr>
        <p:spPr>
          <a:xfrm>
            <a:off x="2333625" y="223837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F59014-80FE-4219-9FDF-F41896540CBE}"/>
              </a:ext>
            </a:extLst>
          </p:cNvPr>
          <p:cNvSpPr>
            <a:spLocks noGrp="1"/>
          </p:cNvSpPr>
          <p:nvPr/>
        </p:nvSpPr>
        <p:spPr>
          <a:xfrm>
            <a:off x="2428875" y="23526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EBE089F-0B0D-4123-AE8D-CD30482384E2}"/>
              </a:ext>
            </a:extLst>
          </p:cNvPr>
          <p:cNvSpPr>
            <a:spLocks noGrp="1"/>
          </p:cNvSpPr>
          <p:nvPr/>
        </p:nvSpPr>
        <p:spPr>
          <a:xfrm>
            <a:off x="3762375" y="2466975"/>
            <a:ext cx="428625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118FD36-7779-47FA-8411-1C2AB2A533FC}"/>
              </a:ext>
            </a:extLst>
          </p:cNvPr>
          <p:cNvSpPr>
            <a:spLocks noGrp="1"/>
          </p:cNvSpPr>
          <p:nvPr/>
        </p:nvSpPr>
        <p:spPr>
          <a:xfrm>
            <a:off x="4191000" y="2000250"/>
            <a:ext cx="1666875" cy="685800"/>
          </a:xfrm>
          <a:prstGeom prst="roundRect">
            <a:avLst>
              <a:gd name="adj" fmla="val 11111"/>
            </a:avLst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856A6-0EBE-49BB-9CDB-46E6497E8521}"/>
              </a:ext>
            </a:extLst>
          </p:cNvPr>
          <p:cNvSpPr>
            <a:spLocks noGrp="1"/>
          </p:cNvSpPr>
          <p:nvPr/>
        </p:nvSpPr>
        <p:spPr>
          <a:xfrm>
            <a:off x="4286250" y="2114550"/>
            <a:ext cx="147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published</a:t>
            </a:r>
          </a:p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eligible drives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12F7762-6126-48C3-BBF4-2CC425266DAF}"/>
              </a:ext>
            </a:extLst>
          </p:cNvPr>
          <p:cNvSpPr>
            <a:spLocks noGrp="1"/>
          </p:cNvSpPr>
          <p:nvPr/>
        </p:nvSpPr>
        <p:spPr>
          <a:xfrm>
            <a:off x="5857875" y="2343150"/>
            <a:ext cx="428625" cy="1238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4ACDBA-25E3-43B0-9130-120EB46D7023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1381125" cy="457200"/>
          </a:xfrm>
          <a:prstGeom prst="roundRect">
            <a:avLst>
              <a:gd name="adj" fmla="val 16667"/>
            </a:avLst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176AE8-A12A-45FF-8A59-171A6B23CE54}"/>
              </a:ext>
            </a:extLst>
          </p:cNvPr>
          <p:cNvSpPr>
            <a:spLocks noGrp="1"/>
          </p:cNvSpPr>
          <p:nvPr/>
        </p:nvSpPr>
        <p:spPr>
          <a:xfrm>
            <a:off x="6381750" y="2352675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drive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47C3E89-CC91-482A-BE5F-EB3D789D0D89}"/>
              </a:ext>
            </a:extLst>
          </p:cNvPr>
          <p:cNvSpPr>
            <a:spLocks noGrp="1"/>
          </p:cNvSpPr>
          <p:nvPr/>
        </p:nvSpPr>
        <p:spPr>
          <a:xfrm>
            <a:off x="7667625" y="2466975"/>
            <a:ext cx="428625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F6B9B07-2BB5-40B3-A9DA-7E568EE72C6E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1714500" cy="685800"/>
          </a:xfrm>
          <a:prstGeom prst="roundRect">
            <a:avLst>
              <a:gd name="adj" fmla="val 11111"/>
            </a:avLst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4B64D-E5F2-4D9E-B0EC-54B325E9110F}"/>
              </a:ext>
            </a:extLst>
          </p:cNvPr>
          <p:cNvSpPr>
            <a:spLocks noGrp="1"/>
          </p:cNvSpPr>
          <p:nvPr/>
        </p:nvSpPr>
        <p:spPr>
          <a:xfrm>
            <a:off x="8191500" y="21145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+</a:t>
            </a:r>
          </a:p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duplicate check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7627375-E135-4105-82C1-53B97B8DF721}"/>
              </a:ext>
            </a:extLst>
          </p:cNvPr>
          <p:cNvSpPr>
            <a:spLocks noGrp="1"/>
          </p:cNvSpPr>
          <p:nvPr/>
        </p:nvSpPr>
        <p:spPr>
          <a:xfrm>
            <a:off x="9810750" y="2343150"/>
            <a:ext cx="333375" cy="1238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CB35D79-5334-478F-A02E-639758F8B8A6}"/>
              </a:ext>
            </a:extLst>
          </p:cNvPr>
          <p:cNvSpPr>
            <a:spLocks noGrp="1"/>
          </p:cNvSpPr>
          <p:nvPr/>
        </p:nvSpPr>
        <p:spPr>
          <a:xfrm>
            <a:off x="10144125" y="2238375"/>
            <a:ext cx="1428750" cy="457200"/>
          </a:xfrm>
          <a:prstGeom prst="roundRect">
            <a:avLst>
              <a:gd name="adj" fmla="val 16667"/>
            </a:avLst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A3CDBD-E834-4638-BD14-3D7C81F83B31}"/>
              </a:ext>
            </a:extLst>
          </p:cNvPr>
          <p:cNvSpPr>
            <a:spLocks noGrp="1"/>
          </p:cNvSpPr>
          <p:nvPr/>
        </p:nvSpPr>
        <p:spPr>
          <a:xfrm>
            <a:off x="10239375" y="23526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 APPLIED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84312628-A17B-4A84-8AEE-847A664E3706}"/>
              </a:ext>
            </a:extLst>
          </p:cNvPr>
          <p:cNvSpPr>
            <a:spLocks noGrp="1"/>
          </p:cNvSpPr>
          <p:nvPr/>
        </p:nvSpPr>
        <p:spPr>
          <a:xfrm>
            <a:off x="4224337" y="3665362"/>
            <a:ext cx="1428750" cy="8382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D79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92C888-52EA-4822-BAE0-784B17D3C03F}"/>
              </a:ext>
            </a:extLst>
          </p:cNvPr>
          <p:cNvSpPr>
            <a:spLocks noGrp="1"/>
          </p:cNvSpPr>
          <p:nvPr/>
        </p:nvSpPr>
        <p:spPr>
          <a:xfrm>
            <a:off x="4616997" y="39528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Eligible?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4384E46-8CDC-4FE5-91FD-82F7E2811BF3}"/>
              </a:ext>
            </a:extLst>
          </p:cNvPr>
          <p:cNvSpPr>
            <a:spLocks noGrp="1"/>
          </p:cNvSpPr>
          <p:nvPr/>
        </p:nvSpPr>
        <p:spPr>
          <a:xfrm>
            <a:off x="1848931" y="3756933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FFF2DF"/>
          </a:solidFill>
          <a:ln w="9525">
            <a:solidFill>
              <a:srgbClr val="D79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93936D-C582-40FE-82EA-A9443EF832A4}"/>
              </a:ext>
            </a:extLst>
          </p:cNvPr>
          <p:cNvSpPr>
            <a:spLocks noGrp="1"/>
          </p:cNvSpPr>
          <p:nvPr/>
        </p:nvSpPr>
        <p:spPr>
          <a:xfrm>
            <a:off x="2070526" y="3945174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B64949"/>
                </a:solidFill>
                <a:latin typeface="Arial"/>
                <a:ea typeface="Arial"/>
                <a:cs typeface="Arial"/>
              </a:rPr>
              <a:t>Reject request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AAD5894D-392D-4063-9D9F-A916104334CA}"/>
              </a:ext>
            </a:extLst>
          </p:cNvPr>
          <p:cNvSpPr>
            <a:spLocks noGrp="1"/>
          </p:cNvSpPr>
          <p:nvPr/>
        </p:nvSpPr>
        <p:spPr>
          <a:xfrm>
            <a:off x="4938712" y="2676525"/>
            <a:ext cx="13297" cy="976312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C8A8FE-EAEE-48D7-9C90-D2CA2AE82A93}"/>
              </a:ext>
            </a:extLst>
          </p:cNvPr>
          <p:cNvSpPr>
            <a:spLocks noGrp="1"/>
          </p:cNvSpPr>
          <p:nvPr/>
        </p:nvSpPr>
        <p:spPr>
          <a:xfrm>
            <a:off x="4314825" y="3652837"/>
            <a:ext cx="3238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pPr>
            <a:r>
              <a:rPr sz="975" dirty="0">
                <a:solidFill>
                  <a:srgbClr val="B6494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F5F43094-1AC3-470B-9337-9E9BD3E52DEF}"/>
              </a:ext>
            </a:extLst>
          </p:cNvPr>
          <p:cNvSpPr>
            <a:spLocks noGrp="1"/>
          </p:cNvSpPr>
          <p:nvPr/>
        </p:nvSpPr>
        <p:spPr>
          <a:xfrm>
            <a:off x="5564981" y="4073236"/>
            <a:ext cx="119062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6268C2-8DE4-4034-B996-54F6AE8881C8}"/>
              </a:ext>
            </a:extLst>
          </p:cNvPr>
          <p:cNvSpPr>
            <a:spLocks noGrp="1"/>
          </p:cNvSpPr>
          <p:nvPr/>
        </p:nvSpPr>
        <p:spPr>
          <a:xfrm>
            <a:off x="5836876" y="3671887"/>
            <a:ext cx="381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F8A7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421CCBF-8CD7-425A-B4DE-39A1289D3981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2381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56E380-CB78-4FAE-9CA1-9675844927A3}"/>
              </a:ext>
            </a:extLst>
          </p:cNvPr>
          <p:cNvSpPr>
            <a:spLocks noGrp="1"/>
          </p:cNvSpPr>
          <p:nvPr/>
        </p:nvSpPr>
        <p:spPr>
          <a:xfrm>
            <a:off x="904875" y="54292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views application</a:t>
            </a:r>
          </a:p>
          <a:p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and published progress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D90BF1E-74D1-4D74-867A-58CE9565510C}"/>
              </a:ext>
            </a:extLst>
          </p:cNvPr>
          <p:cNvSpPr>
            <a:spLocks noGrp="1"/>
          </p:cNvSpPr>
          <p:nvPr/>
        </p:nvSpPr>
        <p:spPr>
          <a:xfrm>
            <a:off x="4000500" y="5286375"/>
            <a:ext cx="2381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15436A-FB30-435B-84E7-DEFACCBE6FA9}"/>
              </a:ext>
            </a:extLst>
          </p:cNvPr>
          <p:cNvSpPr>
            <a:spLocks noGrp="1"/>
          </p:cNvSpPr>
          <p:nvPr/>
        </p:nvSpPr>
        <p:spPr>
          <a:xfrm>
            <a:off x="4143375" y="54292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configures rounds</a:t>
            </a:r>
          </a:p>
          <a:p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and selects candidates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F1852FC-AD36-4502-9659-DABEB92E6420}"/>
              </a:ext>
            </a:extLst>
          </p:cNvPr>
          <p:cNvSpPr>
            <a:spLocks noGrp="1"/>
          </p:cNvSpPr>
          <p:nvPr/>
        </p:nvSpPr>
        <p:spPr>
          <a:xfrm>
            <a:off x="7239000" y="5286375"/>
            <a:ext cx="2381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2F267D-FDBC-40C7-ACE4-58AF6E1FDDE1}"/>
              </a:ext>
            </a:extLst>
          </p:cNvPr>
          <p:cNvSpPr>
            <a:spLocks noGrp="1"/>
          </p:cNvSpPr>
          <p:nvPr/>
        </p:nvSpPr>
        <p:spPr>
          <a:xfrm>
            <a:off x="7381875" y="54292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Record results → publish</a:t>
            </a:r>
          </a:p>
          <a:p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round → final outcome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AD3009-589A-4714-B269-A9D8DDE9DC9A}"/>
              </a:ext>
            </a:extLst>
          </p:cNvPr>
          <p:cNvSpPr>
            <a:spLocks noGrp="1"/>
          </p:cNvSpPr>
          <p:nvPr/>
        </p:nvSpPr>
        <p:spPr>
          <a:xfrm>
            <a:off x="2667000" y="61150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The backend remains the source of truth for eligibility, uniqueness and authorization.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5120E114-91B4-E200-5267-04712A087FBD}"/>
              </a:ext>
            </a:extLst>
          </p:cNvPr>
          <p:cNvSpPr>
            <a:spLocks noGrp="1"/>
          </p:cNvSpPr>
          <p:nvPr/>
        </p:nvSpPr>
        <p:spPr>
          <a:xfrm>
            <a:off x="3277681" y="4052216"/>
            <a:ext cx="897484" cy="41772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5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EA142032-6263-44FF-9CF2-0DE24F18C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C096F-E797-47F5-8402-2F9F9256945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EFDA9-1D84-44EF-8596-C75A1BF1DCE3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Class diagram: core placement model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F777BB-0D08-4CA3-9E5F-77B54E20B15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51975-50F4-47E1-8972-D34636205EB2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F824B4-C8C7-4208-8647-59F337F1ABEF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18B765-5161-411B-AAA9-C9F488555998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37598-45D6-4C6F-B1AF-1CDCB70B446E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1809750" cy="7620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BE1CE-7C20-42BC-AC95-6810A2DF9F44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UserAccount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A1D50-2158-4CA9-8E11-67679E2602C4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role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B7E438-ADA8-4E23-89C6-0D3AF28DC488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2AD424-E2A5-4708-8FF2-2A318D415D92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1809750" cy="76200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F83C7F-BCFC-4906-979D-29331D712328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AAEFBE-6D15-4264-A947-07AF6370551F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name / code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2FE5C3-5A53-4411-A3F0-D41053C369A1}"/>
              </a:ext>
            </a:extLst>
          </p:cNvPr>
          <p:cNvSpPr>
            <a:spLocks noGrp="1"/>
          </p:cNvSpPr>
          <p:nvPr/>
        </p:nvSpPr>
        <p:spPr>
          <a:xfrm>
            <a:off x="2714625" y="371475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310178-7FDB-4FAB-A391-AEDF657A3BFA}"/>
              </a:ext>
            </a:extLst>
          </p:cNvPr>
          <p:cNvSpPr>
            <a:spLocks noGrp="1"/>
          </p:cNvSpPr>
          <p:nvPr/>
        </p:nvSpPr>
        <p:spPr>
          <a:xfrm>
            <a:off x="2714625" y="3714750"/>
            <a:ext cx="1809750" cy="762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770D65-E1DA-4D22-80B7-4AE4242D5EBE}"/>
              </a:ext>
            </a:extLst>
          </p:cNvPr>
          <p:cNvSpPr>
            <a:spLocks noGrp="1"/>
          </p:cNvSpPr>
          <p:nvPr/>
        </p:nvSpPr>
        <p:spPr>
          <a:xfrm>
            <a:off x="2809875" y="3886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E928FE-0036-4D23-9059-EBBBEA89743B}"/>
              </a:ext>
            </a:extLst>
          </p:cNvPr>
          <p:cNvSpPr>
            <a:spLocks noGrp="1"/>
          </p:cNvSpPr>
          <p:nvPr/>
        </p:nvSpPr>
        <p:spPr>
          <a:xfrm>
            <a:off x="2867025" y="419100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enrollmentNumber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academicProgram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12966C-BE7C-4787-AE3F-FDB480629054}"/>
              </a:ext>
            </a:extLst>
          </p:cNvPr>
          <p:cNvSpPr>
            <a:spLocks noGrp="1"/>
          </p:cNvSpPr>
          <p:nvPr/>
        </p:nvSpPr>
        <p:spPr>
          <a:xfrm>
            <a:off x="2714625" y="171450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1120CC-346F-4FB7-B69E-5E0DBAD380AC}"/>
              </a:ext>
            </a:extLst>
          </p:cNvPr>
          <p:cNvSpPr>
            <a:spLocks noGrp="1"/>
          </p:cNvSpPr>
          <p:nvPr/>
        </p:nvSpPr>
        <p:spPr>
          <a:xfrm>
            <a:off x="2714625" y="1714500"/>
            <a:ext cx="1809750" cy="76200"/>
          </a:xfrm>
          <a:prstGeom prst="rect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D2CDFE-80B4-4D03-A821-00CD94988829}"/>
              </a:ext>
            </a:extLst>
          </p:cNvPr>
          <p:cNvSpPr>
            <a:spLocks noGrp="1"/>
          </p:cNvSpPr>
          <p:nvPr/>
        </p:nvSpPr>
        <p:spPr>
          <a:xfrm>
            <a:off x="2809875" y="1885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1BF769-1549-49D2-9F48-838986F35350}"/>
              </a:ext>
            </a:extLst>
          </p:cNvPr>
          <p:cNvSpPr>
            <a:spLocks noGrp="1"/>
          </p:cNvSpPr>
          <p:nvPr/>
        </p:nvSpPr>
        <p:spPr>
          <a:xfrm>
            <a:off x="2867025" y="21907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companyName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contacts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046800-5930-4129-832C-7758D4777F19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3511D2-DEA2-4890-B71C-319E4B477A82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1809750" cy="7620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3BEBC6-C464-4569-84A8-0C70CCE9756D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PlacementDrive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FC2843-BECB-47FF-B350-EC304328EFB5}"/>
              </a:ext>
            </a:extLst>
          </p:cNvPr>
          <p:cNvSpPr>
            <a:spLocks noGrp="1"/>
          </p:cNvSpPr>
          <p:nvPr/>
        </p:nvSpPr>
        <p:spPr>
          <a:xfrm>
            <a:off x="5105400" y="21907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eligibility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academicYear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A4DF48B-D62B-448E-840C-33859FC54EE7}"/>
              </a:ext>
            </a:extLst>
          </p:cNvPr>
          <p:cNvSpPr>
            <a:spLocks noGrp="1"/>
          </p:cNvSpPr>
          <p:nvPr/>
        </p:nvSpPr>
        <p:spPr>
          <a:xfrm>
            <a:off x="4953000" y="371475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BE055C-910F-4D0F-B3C8-C2AB85D6F47D}"/>
              </a:ext>
            </a:extLst>
          </p:cNvPr>
          <p:cNvSpPr>
            <a:spLocks noGrp="1"/>
          </p:cNvSpPr>
          <p:nvPr/>
        </p:nvSpPr>
        <p:spPr>
          <a:xfrm>
            <a:off x="4953000" y="3714750"/>
            <a:ext cx="1809750" cy="762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B20824-BA23-435E-9982-20A64A644567}"/>
              </a:ext>
            </a:extLst>
          </p:cNvPr>
          <p:cNvSpPr>
            <a:spLocks noGrp="1"/>
          </p:cNvSpPr>
          <p:nvPr/>
        </p:nvSpPr>
        <p:spPr>
          <a:xfrm>
            <a:off x="5048250" y="3886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PlacementProgram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0F5A94-9BE1-49C9-A9BF-214BFD00DC2F}"/>
              </a:ext>
            </a:extLst>
          </p:cNvPr>
          <p:cNvSpPr>
            <a:spLocks noGrp="1"/>
          </p:cNvSpPr>
          <p:nvPr/>
        </p:nvSpPr>
        <p:spPr>
          <a:xfrm>
            <a:off x="5105400" y="419100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programId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programCode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7EAF53B-A090-47C8-8553-A6BC1EE027BB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AD988A-A4C9-4BCC-A832-0D8490CD4D86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1809750" cy="76200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5873D1-DAD2-4C7D-AA22-BA51B8B1FD48}"/>
              </a:ext>
            </a:extLst>
          </p:cNvPr>
          <p:cNvSpPr>
            <a:spLocks noGrp="1"/>
          </p:cNvSpPr>
          <p:nvPr/>
        </p:nvSpPr>
        <p:spPr>
          <a:xfrm>
            <a:off x="7572375" y="1885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PlacementApplication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7B05B4-A3C0-48F7-8996-F783A93730D4}"/>
              </a:ext>
            </a:extLst>
          </p:cNvPr>
          <p:cNvSpPr>
            <a:spLocks noGrp="1"/>
          </p:cNvSpPr>
          <p:nvPr/>
        </p:nvSpPr>
        <p:spPr>
          <a:xfrm>
            <a:off x="7629525" y="21907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applicationId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appliedAt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A9B4BAC-EFE0-4173-8891-2A5A90F2171F}"/>
              </a:ext>
            </a:extLst>
          </p:cNvPr>
          <p:cNvSpPr>
            <a:spLocks noGrp="1"/>
          </p:cNvSpPr>
          <p:nvPr/>
        </p:nvSpPr>
        <p:spPr>
          <a:xfrm>
            <a:off x="7477125" y="371475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65144F-0C8A-4764-827D-5CBA71F9DAB4}"/>
              </a:ext>
            </a:extLst>
          </p:cNvPr>
          <p:cNvSpPr>
            <a:spLocks noGrp="1"/>
          </p:cNvSpPr>
          <p:nvPr/>
        </p:nvSpPr>
        <p:spPr>
          <a:xfrm>
            <a:off x="7477125" y="3714750"/>
            <a:ext cx="1809750" cy="76200"/>
          </a:xfrm>
          <a:prstGeom prst="rect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AB31CA-C291-4FBF-AA37-43CD0AC67BA5}"/>
              </a:ext>
            </a:extLst>
          </p:cNvPr>
          <p:cNvSpPr>
            <a:spLocks noGrp="1"/>
          </p:cNvSpPr>
          <p:nvPr/>
        </p:nvSpPr>
        <p:spPr>
          <a:xfrm>
            <a:off x="7572375" y="3886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RecruitmentRound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EC3021-1AED-48E8-93FE-5520886AA60F}"/>
              </a:ext>
            </a:extLst>
          </p:cNvPr>
          <p:cNvSpPr>
            <a:spLocks noGrp="1"/>
          </p:cNvSpPr>
          <p:nvPr/>
        </p:nvSpPr>
        <p:spPr>
          <a:xfrm>
            <a:off x="7629525" y="419100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roundOrder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resultsPublished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87FB4F8-52B3-47A5-BB39-D47EE4A1CB2B}"/>
              </a:ext>
            </a:extLst>
          </p:cNvPr>
          <p:cNvSpPr>
            <a:spLocks noGrp="1"/>
          </p:cNvSpPr>
          <p:nvPr/>
        </p:nvSpPr>
        <p:spPr>
          <a:xfrm>
            <a:off x="9810750" y="3714750"/>
            <a:ext cx="1809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555632-96D8-41D3-9E49-375E01C76865}"/>
              </a:ext>
            </a:extLst>
          </p:cNvPr>
          <p:cNvSpPr>
            <a:spLocks noGrp="1"/>
          </p:cNvSpPr>
          <p:nvPr/>
        </p:nvSpPr>
        <p:spPr>
          <a:xfrm>
            <a:off x="9810750" y="3714750"/>
            <a:ext cx="1809750" cy="76200"/>
          </a:xfrm>
          <a:prstGeom prst="rect">
            <a:avLst/>
          </a:prstGeom>
          <a:solidFill>
            <a:srgbClr val="B649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BBDFD8-EC68-463F-9183-968B864209DF}"/>
              </a:ext>
            </a:extLst>
          </p:cNvPr>
          <p:cNvSpPr>
            <a:spLocks noGrp="1"/>
          </p:cNvSpPr>
          <p:nvPr/>
        </p:nvSpPr>
        <p:spPr>
          <a:xfrm>
            <a:off x="9906000" y="3886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RoundResult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AE630A-FFAC-4D09-8089-95F633C97599}"/>
              </a:ext>
            </a:extLst>
          </p:cNvPr>
          <p:cNvSpPr>
            <a:spLocks noGrp="1"/>
          </p:cNvSpPr>
          <p:nvPr/>
        </p:nvSpPr>
        <p:spPr>
          <a:xfrm>
            <a:off x="9963150" y="419100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roundResultId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recordedAt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A8362605-4D72-4682-B0BE-2EF20307941A}"/>
              </a:ext>
            </a:extLst>
          </p:cNvPr>
          <p:cNvSpPr>
            <a:spLocks noGrp="1"/>
          </p:cNvSpPr>
          <p:nvPr/>
        </p:nvSpPr>
        <p:spPr>
          <a:xfrm>
            <a:off x="1476375" y="2743200"/>
            <a:ext cx="9525" cy="97155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56D8CB24-98FB-49A9-BFF8-F5DBAD86CE3C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333375" cy="161925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30CC1541-DF45-4ED0-BBD3-34CA65AF74D5}"/>
              </a:ext>
            </a:extLst>
          </p:cNvPr>
          <p:cNvSpPr>
            <a:spLocks noGrp="1"/>
          </p:cNvSpPr>
          <p:nvPr/>
        </p:nvSpPr>
        <p:spPr>
          <a:xfrm>
            <a:off x="2381250" y="4229100"/>
            <a:ext cx="3333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1ACE3F07-9846-4F94-BB2D-12292D31515F}"/>
              </a:ext>
            </a:extLst>
          </p:cNvPr>
          <p:cNvSpPr>
            <a:spLocks noGrp="1"/>
          </p:cNvSpPr>
          <p:nvPr/>
        </p:nvSpPr>
        <p:spPr>
          <a:xfrm>
            <a:off x="4524375" y="2228850"/>
            <a:ext cx="42862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3E935D58-B219-497C-AAC2-53A820729C0E}"/>
              </a:ext>
            </a:extLst>
          </p:cNvPr>
          <p:cNvSpPr>
            <a:spLocks noGrp="1"/>
          </p:cNvSpPr>
          <p:nvPr/>
        </p:nvSpPr>
        <p:spPr>
          <a:xfrm>
            <a:off x="6762750" y="2228850"/>
            <a:ext cx="7143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168F99B6-FA33-4173-92CA-EF3DA34EEF93}"/>
              </a:ext>
            </a:extLst>
          </p:cNvPr>
          <p:cNvSpPr>
            <a:spLocks noGrp="1"/>
          </p:cNvSpPr>
          <p:nvPr/>
        </p:nvSpPr>
        <p:spPr>
          <a:xfrm>
            <a:off x="5857875" y="2743200"/>
            <a:ext cx="9525" cy="97155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9F53EF66-3E3A-439C-A226-BB7163235620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714375" cy="165735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5C50140A-D6DB-4C91-8BF1-511C8A103878}"/>
              </a:ext>
            </a:extLst>
          </p:cNvPr>
          <p:cNvSpPr>
            <a:spLocks noGrp="1"/>
          </p:cNvSpPr>
          <p:nvPr/>
        </p:nvSpPr>
        <p:spPr>
          <a:xfrm>
            <a:off x="9286875" y="4229100"/>
            <a:ext cx="523875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02822D-3DE5-4BB2-A0FC-FCCC445885EF}"/>
              </a:ext>
            </a:extLst>
          </p:cNvPr>
          <p:cNvSpPr>
            <a:spLocks noGrp="1"/>
          </p:cNvSpPr>
          <p:nvPr/>
        </p:nvSpPr>
        <p:spPr>
          <a:xfrm>
            <a:off x="1552575" y="310515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optional profile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C0FA6C-DCA4-4EBC-8352-BD84967E73B4}"/>
              </a:ext>
            </a:extLst>
          </p:cNvPr>
          <p:cNvSpPr>
            <a:spLocks noGrp="1"/>
          </p:cNvSpPr>
          <p:nvPr/>
        </p:nvSpPr>
        <p:spPr>
          <a:xfrm>
            <a:off x="3048000" y="34671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5B6B7F"/>
                </a:solidFill>
                <a:latin typeface="Arial"/>
                <a:ea typeface="Arial"/>
                <a:cs typeface="Arial"/>
              </a:rPr>
              <a:t>assigned dept.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CD8359B-63D7-4BF2-BEED-8BE6631ACC82}"/>
              </a:ext>
            </a:extLst>
          </p:cNvPr>
          <p:cNvSpPr>
            <a:spLocks noGrp="1"/>
          </p:cNvSpPr>
          <p:nvPr/>
        </p:nvSpPr>
        <p:spPr>
          <a:xfrm>
            <a:off x="3714750" y="195262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many drives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D3072F-F814-44B3-ADAC-99B5623D0534}"/>
              </a:ext>
            </a:extLst>
          </p:cNvPr>
          <p:cNvSpPr>
            <a:spLocks noGrp="1"/>
          </p:cNvSpPr>
          <p:nvPr/>
        </p:nvSpPr>
        <p:spPr>
          <a:xfrm>
            <a:off x="4857750" y="138112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Company / academic year / department → drive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AD3054B-218F-4BE2-A08E-127A8018D53B}"/>
              </a:ext>
            </a:extLst>
          </p:cNvPr>
          <p:cNvSpPr>
            <a:spLocks noGrp="1"/>
          </p:cNvSpPr>
          <p:nvPr/>
        </p:nvSpPr>
        <p:spPr>
          <a:xfrm>
            <a:off x="2381250" y="58293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 ↔ program uses placement_drive_programs; applications and round results remain linked to the drive.</a:t>
            </a:r>
          </a:p>
        </p:txBody>
      </p:sp>
    </p:spTree>
    <p:extLst>
      <p:ext uri="{BB962C8B-B14F-4D97-AF65-F5344CB8AC3E}">
        <p14:creationId xmlns:p14="http://schemas.microsoft.com/office/powerpoint/2010/main" val="192248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88E0591-5EB0-4BB6-9170-5F048F319F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E98546-4F93-47CC-B8EE-256DFB903EF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527342-1DC7-42FC-8905-5A197C74217A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Functional modules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67730D7-7CBE-4236-9EB7-FF4E9A16F34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46E2F-3C3A-4783-92FD-60854E77B490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5C0278-0B96-42B6-939A-31CE9E522972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0CBBD7-2571-4774-BCE9-BE3B4766B74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8233C-2933-412A-8573-E54A5B8B093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7150" cy="10287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CBB0C-2F99-4148-A367-A5331932E954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F5EB8-1CFF-45E9-AB1D-BF86F1490E63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Registration, login, JWT, /api/me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FDFE7EA-10F2-4F5A-97CC-F9C53E9F2E8C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A06FE8-2C6B-4FE8-84FD-B99F5A3CF8A9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57150" cy="102870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3D2DC1-F5BF-49F2-9CCE-62286445D6C9}"/>
              </a:ext>
            </a:extLst>
          </p:cNvPr>
          <p:cNvSpPr>
            <a:spLocks noGrp="1"/>
          </p:cNvSpPr>
          <p:nvPr/>
        </p:nvSpPr>
        <p:spPr>
          <a:xfrm>
            <a:off x="4533900" y="17907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profile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52BAD2-DECE-466B-8602-AFD002D62C09}"/>
              </a:ext>
            </a:extLst>
          </p:cNvPr>
          <p:cNvSpPr>
            <a:spLocks noGrp="1"/>
          </p:cNvSpPr>
          <p:nvPr/>
        </p:nvSpPr>
        <p:spPr>
          <a:xfrm>
            <a:off x="4533900" y="21336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Profile details and photo storage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FD94CE-96A8-420F-BD38-11923614067C}"/>
              </a:ext>
            </a:extLst>
          </p:cNvPr>
          <p:cNvSpPr>
            <a:spLocks noGrp="1"/>
          </p:cNvSpPr>
          <p:nvPr/>
        </p:nvSpPr>
        <p:spPr>
          <a:xfrm>
            <a:off x="8039100" y="16192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344B8-0354-40D8-9DDB-CEF77EA681D7}"/>
              </a:ext>
            </a:extLst>
          </p:cNvPr>
          <p:cNvSpPr>
            <a:spLocks noGrp="1"/>
          </p:cNvSpPr>
          <p:nvPr/>
        </p:nvSpPr>
        <p:spPr>
          <a:xfrm>
            <a:off x="8039100" y="1619250"/>
            <a:ext cx="57150" cy="1028700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329068-A37C-4E95-A9E6-AFDBCCA7DDD1}"/>
              </a:ext>
            </a:extLst>
          </p:cNvPr>
          <p:cNvSpPr>
            <a:spLocks noGrp="1"/>
          </p:cNvSpPr>
          <p:nvPr/>
        </p:nvSpPr>
        <p:spPr>
          <a:xfrm>
            <a:off x="8248650" y="17907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4CF4DE-53C6-42BA-AEC5-3BF0655CB9A3}"/>
              </a:ext>
            </a:extLst>
          </p:cNvPr>
          <p:cNvSpPr>
            <a:spLocks noGrp="1"/>
          </p:cNvSpPr>
          <p:nvPr/>
        </p:nvSpPr>
        <p:spPr>
          <a:xfrm>
            <a:off x="8248650" y="21336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Staff-managed company records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E2B5555-134D-4DFB-AE3A-C9E84D02DE40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1FBDF9-6BA9-4A8B-A8CE-86F565407CA8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7150" cy="1028700"/>
          </a:xfrm>
          <a:prstGeom prst="rect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A942DC-7470-4B4C-BD58-B3791885937A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drives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EE75CD-0BB3-4EE2-B864-0E0A7198E833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Draft, publish, eligibility and visibility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F4C3777-4476-488E-BF14-8E2640C811A9}"/>
              </a:ext>
            </a:extLst>
          </p:cNvPr>
          <p:cNvSpPr>
            <a:spLocks noGrp="1"/>
          </p:cNvSpPr>
          <p:nvPr/>
        </p:nvSpPr>
        <p:spPr>
          <a:xfrm>
            <a:off x="4324350" y="29527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8B39E3-B565-46E9-81DB-5E43E4A3BD95}"/>
              </a:ext>
            </a:extLst>
          </p:cNvPr>
          <p:cNvSpPr>
            <a:spLocks noGrp="1"/>
          </p:cNvSpPr>
          <p:nvPr/>
        </p:nvSpPr>
        <p:spPr>
          <a:xfrm>
            <a:off x="4324350" y="2952750"/>
            <a:ext cx="57150" cy="1028700"/>
          </a:xfrm>
          <a:prstGeom prst="rect">
            <a:avLst/>
          </a:prstGeom>
          <a:solidFill>
            <a:srgbClr val="B649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E0F70E-2BFE-43DB-B618-243B38ED213C}"/>
              </a:ext>
            </a:extLst>
          </p:cNvPr>
          <p:cNvSpPr>
            <a:spLocks noGrp="1"/>
          </p:cNvSpPr>
          <p:nvPr/>
        </p:nvSpPr>
        <p:spPr>
          <a:xfrm>
            <a:off x="4533900" y="31242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8D3343-6AAD-4C5F-8022-88A7457BC60D}"/>
              </a:ext>
            </a:extLst>
          </p:cNvPr>
          <p:cNvSpPr>
            <a:spLocks noGrp="1"/>
          </p:cNvSpPr>
          <p:nvPr/>
        </p:nvSpPr>
        <p:spPr>
          <a:xfrm>
            <a:off x="4533900" y="34671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once and view status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CCACB91-FD13-4D58-976B-890A01304435}"/>
              </a:ext>
            </a:extLst>
          </p:cNvPr>
          <p:cNvSpPr>
            <a:spLocks noGrp="1"/>
          </p:cNvSpPr>
          <p:nvPr/>
        </p:nvSpPr>
        <p:spPr>
          <a:xfrm>
            <a:off x="8039100" y="29527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18A7E-D06F-4179-8F3B-B34B13A58EA3}"/>
              </a:ext>
            </a:extLst>
          </p:cNvPr>
          <p:cNvSpPr>
            <a:spLocks noGrp="1"/>
          </p:cNvSpPr>
          <p:nvPr/>
        </p:nvSpPr>
        <p:spPr>
          <a:xfrm>
            <a:off x="8039100" y="2952750"/>
            <a:ext cx="57150" cy="10287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D07CEA-9AD6-470E-B62C-1C75413CAE83}"/>
              </a:ext>
            </a:extLst>
          </p:cNvPr>
          <p:cNvSpPr>
            <a:spLocks noGrp="1"/>
          </p:cNvSpPr>
          <p:nvPr/>
        </p:nvSpPr>
        <p:spPr>
          <a:xfrm>
            <a:off x="8248650" y="31242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 rounds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2219AF-77E6-4784-8499-5C35856189BC}"/>
              </a:ext>
            </a:extLst>
          </p:cNvPr>
          <p:cNvSpPr>
            <a:spLocks noGrp="1"/>
          </p:cNvSpPr>
          <p:nvPr/>
        </p:nvSpPr>
        <p:spPr>
          <a:xfrm>
            <a:off x="8248650" y="34671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Ordered rounds, results and progression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0205A8D-3D5F-468C-ACCC-0AE8FD3FDF38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33337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E15949-6EA4-41CD-B7BC-B6C60553C97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7150" cy="102870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17E2D-63F3-49CB-BCB8-AA1056C323BB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Dashboards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2CB765-9293-4CC6-8AD1-E6C286646E1E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UTPO/DTPO operations and aggregates</a:t>
            </a:r>
          </a:p>
        </p:txBody>
      </p:sp>
    </p:spTree>
    <p:extLst>
      <p:ext uri="{BB962C8B-B14F-4D97-AF65-F5344CB8AC3E}">
        <p14:creationId xmlns:p14="http://schemas.microsoft.com/office/powerpoint/2010/main" val="500653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1F169F3-D6F0-453D-9C5F-9ED0FEF0DC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9B6D0-C47F-4DBF-AB13-E8CA33E68DA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567919-69F9-46D0-848F-C32CCC895F22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119F8F1-CA69-4F2F-990B-C3C3E995B96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11EBB-4D93-4E45-957A-7B2A7272F2EB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A9125A-AF76-41BB-AF14-8AF4126CE341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DDF6BE-E00A-4ABD-A37A-537F6A3AB422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368987-A42C-4FAF-8361-73AEF83FAA11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F06095-FB05-4624-9FE7-FE8F8FD687B2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role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department_id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EA73F6-B705-4AEE-B97B-475BE9310249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2FA0B-9EA2-4AE3-BED6-F7E3FCA7289C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0D585D-A86C-4421-BCE3-D33C6186D94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name /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A1499E8-BAD7-4A35-9986-59A5C7A0898F}"/>
              </a:ext>
            </a:extLst>
          </p:cNvPr>
          <p:cNvSpPr>
            <a:spLocks noGrp="1"/>
          </p:cNvSpPr>
          <p:nvPr/>
        </p:nvSpPr>
        <p:spPr>
          <a:xfrm>
            <a:off x="3524250" y="3524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D1CFE0-0EDE-4FB8-9CEB-2C64A4ECE76F}"/>
              </a:ext>
            </a:extLst>
          </p:cNvPr>
          <p:cNvSpPr>
            <a:spLocks noGrp="1"/>
          </p:cNvSpPr>
          <p:nvPr/>
        </p:nvSpPr>
        <p:spPr>
          <a:xfrm>
            <a:off x="3638550" y="3619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1FB61A-768C-4AC9-B50F-17D6602C0B2A}"/>
              </a:ext>
            </a:extLst>
          </p:cNvPr>
          <p:cNvSpPr>
            <a:spLocks noGrp="1"/>
          </p:cNvSpPr>
          <p:nvPr/>
        </p:nvSpPr>
        <p:spPr>
          <a:xfrm>
            <a:off x="3657600" y="3886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enrollment / program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81E461-61C2-4865-82FE-6D6A6C5A60A8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8CE87C-7DFF-4987-AC27-092CD7386042}"/>
              </a:ext>
            </a:extLst>
          </p:cNvPr>
          <p:cNvSpPr>
            <a:spLocks noGrp="1"/>
          </p:cNvSpPr>
          <p:nvPr/>
        </p:nvSpPr>
        <p:spPr>
          <a:xfrm>
            <a:off x="6781800" y="1714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D984F5-5549-4093-B934-4408E8D952DE}"/>
              </a:ext>
            </a:extLst>
          </p:cNvPr>
          <p:cNvSpPr>
            <a:spLocks noGrp="1"/>
          </p:cNvSpPr>
          <p:nvPr/>
        </p:nvSpPr>
        <p:spPr>
          <a:xfrm>
            <a:off x="6800850" y="1981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company_name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F215E7C-F45A-49A5-969C-9EABB57010B8}"/>
              </a:ext>
            </a:extLst>
          </p:cNvPr>
          <p:cNvSpPr>
            <a:spLocks noGrp="1"/>
          </p:cNvSpPr>
          <p:nvPr/>
        </p:nvSpPr>
        <p:spPr>
          <a:xfrm>
            <a:off x="6667500" y="3524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3852FB-6131-4555-AA08-344125185BE0}"/>
              </a:ext>
            </a:extLst>
          </p:cNvPr>
          <p:cNvSpPr>
            <a:spLocks noGrp="1"/>
          </p:cNvSpPr>
          <p:nvPr/>
        </p:nvSpPr>
        <p:spPr>
          <a:xfrm>
            <a:off x="6781800" y="3619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placement_drives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36517A-285D-4B4F-BAEE-918DFAA9109F}"/>
              </a:ext>
            </a:extLst>
          </p:cNvPr>
          <p:cNvSpPr>
            <a:spLocks noGrp="1"/>
          </p:cNvSpPr>
          <p:nvPr/>
        </p:nvSpPr>
        <p:spPr>
          <a:xfrm>
            <a:off x="6800850" y="3886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 / eligibility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F8EDF6-35C3-4022-BA06-95DF486AABB1}"/>
              </a:ext>
            </a:extLst>
          </p:cNvPr>
          <p:cNvSpPr>
            <a:spLocks noGrp="1"/>
          </p:cNvSpPr>
          <p:nvPr/>
        </p:nvSpPr>
        <p:spPr>
          <a:xfrm>
            <a:off x="9620250" y="3524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F724CC-6817-4602-94DB-57EFFCE8AE0E}"/>
              </a:ext>
            </a:extLst>
          </p:cNvPr>
          <p:cNvSpPr>
            <a:spLocks noGrp="1"/>
          </p:cNvSpPr>
          <p:nvPr/>
        </p:nvSpPr>
        <p:spPr>
          <a:xfrm>
            <a:off x="9734550" y="3619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placement_applications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49611D-CFBD-4E3B-8F81-F4A3FD984A0E}"/>
              </a:ext>
            </a:extLst>
          </p:cNvPr>
          <p:cNvSpPr>
            <a:spLocks noGrp="1"/>
          </p:cNvSpPr>
          <p:nvPr/>
        </p:nvSpPr>
        <p:spPr>
          <a:xfrm>
            <a:off x="9753600" y="3886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application_id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/ drive / status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860DF73-2345-4C59-A04D-719F5855F729}"/>
              </a:ext>
            </a:extLst>
          </p:cNvPr>
          <p:cNvSpPr>
            <a:spLocks noGrp="1"/>
          </p:cNvSpPr>
          <p:nvPr/>
        </p:nvSpPr>
        <p:spPr>
          <a:xfrm>
            <a:off x="3524250" y="5429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F6B35C-AFD5-449F-A3D5-6A4FE124B18F}"/>
              </a:ext>
            </a:extLst>
          </p:cNvPr>
          <p:cNvSpPr>
            <a:spLocks noGrp="1"/>
          </p:cNvSpPr>
          <p:nvPr/>
        </p:nvSpPr>
        <p:spPr>
          <a:xfrm>
            <a:off x="3638550" y="5524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placement_drive_rounds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9C603F-840F-4E31-841C-664C8C801D04}"/>
              </a:ext>
            </a:extLst>
          </p:cNvPr>
          <p:cNvSpPr>
            <a:spLocks noGrp="1"/>
          </p:cNvSpPr>
          <p:nvPr/>
        </p:nvSpPr>
        <p:spPr>
          <a:xfrm>
            <a:off x="3657600" y="5791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order / published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0CFF59E-EBF6-44F4-A499-678407B04936}"/>
              </a:ext>
            </a:extLst>
          </p:cNvPr>
          <p:cNvSpPr>
            <a:spLocks noGrp="1"/>
          </p:cNvSpPr>
          <p:nvPr/>
        </p:nvSpPr>
        <p:spPr>
          <a:xfrm>
            <a:off x="6667500" y="542925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A0F148-4ADA-4C82-A06E-CB5E71FB2427}"/>
              </a:ext>
            </a:extLst>
          </p:cNvPr>
          <p:cNvSpPr>
            <a:spLocks noGrp="1"/>
          </p:cNvSpPr>
          <p:nvPr/>
        </p:nvSpPr>
        <p:spPr>
          <a:xfrm>
            <a:off x="6781800" y="55245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placement_round_results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A9E7E9-8C0F-4F94-9D57-9D58B6F267A9}"/>
              </a:ext>
            </a:extLst>
          </p:cNvPr>
          <p:cNvSpPr>
            <a:spLocks noGrp="1"/>
          </p:cNvSpPr>
          <p:nvPr/>
        </p:nvSpPr>
        <p:spPr>
          <a:xfrm>
            <a:off x="6800850" y="5791200"/>
            <a:ext cx="1828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round_result_id</a:t>
            </a:r>
          </a:p>
          <a:p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 / recorder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4DDC329B-B250-4978-964E-FB512A8DCFC7}"/>
              </a:ext>
            </a:extLst>
          </p:cNvPr>
          <p:cNvSpPr>
            <a:spLocks noGrp="1"/>
          </p:cNvSpPr>
          <p:nvPr/>
        </p:nvSpPr>
        <p:spPr>
          <a:xfrm>
            <a:off x="1809750" y="2457450"/>
            <a:ext cx="9525" cy="106680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19DD4D6B-E935-4056-B14C-CE50382E20C2}"/>
              </a:ext>
            </a:extLst>
          </p:cNvPr>
          <p:cNvSpPr>
            <a:spLocks noGrp="1"/>
          </p:cNvSpPr>
          <p:nvPr/>
        </p:nvSpPr>
        <p:spPr>
          <a:xfrm>
            <a:off x="1809750" y="3943350"/>
            <a:ext cx="1714500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4CEBED36-7699-480F-AA62-209C12B15D88}"/>
              </a:ext>
            </a:extLst>
          </p:cNvPr>
          <p:cNvSpPr>
            <a:spLocks noGrp="1"/>
          </p:cNvSpPr>
          <p:nvPr/>
        </p:nvSpPr>
        <p:spPr>
          <a:xfrm>
            <a:off x="5619748" y="3886200"/>
            <a:ext cx="1047751" cy="14287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A0E26CEB-E543-47D6-8401-64FF2F562E5A}"/>
              </a:ext>
            </a:extLst>
          </p:cNvPr>
          <p:cNvSpPr>
            <a:spLocks noGrp="1"/>
          </p:cNvSpPr>
          <p:nvPr/>
        </p:nvSpPr>
        <p:spPr>
          <a:xfrm>
            <a:off x="7715250" y="2457450"/>
            <a:ext cx="9525" cy="106680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119AE74B-DC06-48CD-840E-9F8921CB87AF}"/>
              </a:ext>
            </a:extLst>
          </p:cNvPr>
          <p:cNvSpPr>
            <a:spLocks noGrp="1"/>
          </p:cNvSpPr>
          <p:nvPr/>
        </p:nvSpPr>
        <p:spPr>
          <a:xfrm>
            <a:off x="8763000" y="3943350"/>
            <a:ext cx="857250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576CD495-7E21-4EFD-8709-ACBAF2D07432}"/>
              </a:ext>
            </a:extLst>
          </p:cNvPr>
          <p:cNvSpPr>
            <a:spLocks noGrp="1"/>
          </p:cNvSpPr>
          <p:nvPr/>
        </p:nvSpPr>
        <p:spPr>
          <a:xfrm>
            <a:off x="4572000" y="4362450"/>
            <a:ext cx="9525" cy="106680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7F473CF0-B4A4-41A7-BFF2-D53C97721C92}"/>
              </a:ext>
            </a:extLst>
          </p:cNvPr>
          <p:cNvSpPr>
            <a:spLocks noGrp="1"/>
          </p:cNvSpPr>
          <p:nvPr/>
        </p:nvSpPr>
        <p:spPr>
          <a:xfrm>
            <a:off x="7715250" y="4362450"/>
            <a:ext cx="9525" cy="1066800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EFDB37A1-FE69-4E79-9223-069621DA2EDB}"/>
              </a:ext>
            </a:extLst>
          </p:cNvPr>
          <p:cNvSpPr>
            <a:spLocks noGrp="1"/>
          </p:cNvSpPr>
          <p:nvPr/>
        </p:nvSpPr>
        <p:spPr>
          <a:xfrm>
            <a:off x="5619750" y="5848350"/>
            <a:ext cx="1047750" cy="9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40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CEE9FBB-48FC-4BF8-95F4-DE37689D90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67C590-F1A5-46ED-83E8-62000B961A6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B3F21A-BB91-40CC-9A6F-C5E50ADD6DDD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Authentication and user management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39A32B9-F457-4F9F-ACFB-83195435D26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1F202-A843-4CDF-81DF-78ED8511CDDE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43694-49CD-41CD-8E69-0E5084538611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FDC444-0D42-411F-A9A1-54E702824A3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95300" cy="495300"/>
          </a:xfrm>
          <a:prstGeom prst="ellipse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5BA15-4BE3-4807-A8BB-2E880598E230}"/>
              </a:ext>
            </a:extLst>
          </p:cNvPr>
          <p:cNvSpPr>
            <a:spLocks noGrp="1"/>
          </p:cNvSpPr>
          <p:nvPr/>
        </p:nvSpPr>
        <p:spPr>
          <a:xfrm>
            <a:off x="666750" y="18383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D7C7C5-8C61-4D35-B10B-A3D8B6D3266C}"/>
              </a:ext>
            </a:extLst>
          </p:cNvPr>
          <p:cNvSpPr>
            <a:spLocks noGrp="1"/>
          </p:cNvSpPr>
          <p:nvPr/>
        </p:nvSpPr>
        <p:spPr>
          <a:xfrm>
            <a:off x="1524000" y="17335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D2A747-CD50-4D8D-B23D-2D08F8E83DB6}"/>
              </a:ext>
            </a:extLst>
          </p:cNvPr>
          <p:cNvSpPr>
            <a:spLocks noGrp="1"/>
          </p:cNvSpPr>
          <p:nvPr/>
        </p:nvSpPr>
        <p:spPr>
          <a:xfrm>
            <a:off x="3524250" y="1704975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uses enrollment number. Staff uses university email.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68129FB-4ED8-4A06-AD81-FC557B5B065D}"/>
              </a:ext>
            </a:extLst>
          </p:cNvPr>
          <p:cNvSpPr>
            <a:spLocks noGrp="1"/>
          </p:cNvSpPr>
          <p:nvPr/>
        </p:nvSpPr>
        <p:spPr>
          <a:xfrm>
            <a:off x="914400" y="2219325"/>
            <a:ext cx="9525" cy="390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CE3C35-3DDB-4160-B0AF-6AE2B6AD173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495300" cy="495300"/>
          </a:xfrm>
          <a:prstGeom prst="ellipse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13EB41-980A-4405-85B4-01989A8EDC5F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92B11-AD88-4570-BF76-42B767005985}"/>
              </a:ext>
            </a:extLst>
          </p:cNvPr>
          <p:cNvSpPr>
            <a:spLocks noGrp="1"/>
          </p:cNvSpPr>
          <p:nvPr/>
        </p:nvSpPr>
        <p:spPr>
          <a:xfrm>
            <a:off x="1524000" y="263842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689B7B-4794-443B-95B8-EACAB09AEC3E}"/>
              </a:ext>
            </a:extLst>
          </p:cNvPr>
          <p:cNvSpPr>
            <a:spLocks noGrp="1"/>
          </p:cNvSpPr>
          <p:nvPr/>
        </p:nvSpPr>
        <p:spPr>
          <a:xfrm>
            <a:off x="3524250" y="26098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BCrypt checks the stored password. Disabled or unsupported accounts fail closed.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D8C3F04-AB80-4DD8-99CE-CD83AACE308B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9525" cy="390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297291-F5CE-4481-95E4-FD1C8D228867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495300" cy="495300"/>
          </a:xfrm>
          <a:prstGeom prst="ellipse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51E4BD-0636-4C82-B10A-B885BBCD94C1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8D9303-5FE6-4FF1-8DE1-928CEE897C08}"/>
              </a:ext>
            </a:extLst>
          </p:cNvPr>
          <p:cNvSpPr>
            <a:spLocks noGrp="1"/>
          </p:cNvSpPr>
          <p:nvPr/>
        </p:nvSpPr>
        <p:spPr>
          <a:xfrm>
            <a:off x="1524000" y="3543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1593ED-709A-4E11-B558-4C36AF36B588}"/>
              </a:ext>
            </a:extLst>
          </p:cNvPr>
          <p:cNvSpPr>
            <a:spLocks noGrp="1"/>
          </p:cNvSpPr>
          <p:nvPr/>
        </p:nvSpPr>
        <p:spPr>
          <a:xfrm>
            <a:off x="3524250" y="3514725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JWT carries the authenticated identity and role context.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C85B3DA-774A-41CE-9A13-0ED04DCC105E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9525" cy="390525"/>
          </a:xfrm>
          <a:prstGeom prst="line">
            <a:avLst/>
          </a:prstGeom>
          <a:noFill/>
          <a:ln w="19050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76EFC6-5BA7-415D-B617-479CA3EA35F8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495300" cy="495300"/>
          </a:xfrm>
          <a:prstGeom prst="ellipse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1BBD83-4194-40A6-9046-1683D6F40ECF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56D2E3-8E24-48E5-A167-07E9FF90E558}"/>
              </a:ext>
            </a:extLst>
          </p:cNvPr>
          <p:cNvSpPr>
            <a:spLocks noGrp="1"/>
          </p:cNvSpPr>
          <p:nvPr/>
        </p:nvSpPr>
        <p:spPr>
          <a:xfrm>
            <a:off x="1524000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Reload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6B76E5-0790-41FF-9982-7482C72BBFDC}"/>
              </a:ext>
            </a:extLst>
          </p:cNvPr>
          <p:cNvSpPr>
            <a:spLocks noGrp="1"/>
          </p:cNvSpPr>
          <p:nvPr/>
        </p:nvSpPr>
        <p:spPr>
          <a:xfrm>
            <a:off x="3524250" y="44196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Protected services reload the account and use current role/active state.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D75976D-2EB7-4C46-B0D9-B753400A0D92}"/>
              </a:ext>
            </a:extLst>
          </p:cNvPr>
          <p:cNvSpPr>
            <a:spLocks noGrp="1"/>
          </p:cNvSpPr>
          <p:nvPr/>
        </p:nvSpPr>
        <p:spPr>
          <a:xfrm>
            <a:off x="8096250" y="1733550"/>
            <a:ext cx="3143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E91C38-DF97-43B9-9EE8-F04F6075B6E1}"/>
              </a:ext>
            </a:extLst>
          </p:cNvPr>
          <p:cNvSpPr>
            <a:spLocks noGrp="1"/>
          </p:cNvSpPr>
          <p:nvPr/>
        </p:nvSpPr>
        <p:spPr>
          <a:xfrm>
            <a:off x="8096250" y="1733550"/>
            <a:ext cx="57150" cy="1619250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FB7D65-4584-49CB-9D24-22EB18B982DE}"/>
              </a:ext>
            </a:extLst>
          </p:cNvPr>
          <p:cNvSpPr>
            <a:spLocks noGrp="1"/>
          </p:cNvSpPr>
          <p:nvPr/>
        </p:nvSpPr>
        <p:spPr>
          <a:xfrm>
            <a:off x="8305800" y="19050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Current-user contract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CD6EF1-986F-4FF4-8E94-DA099C80EC5F}"/>
              </a:ext>
            </a:extLst>
          </p:cNvPr>
          <p:cNvSpPr>
            <a:spLocks noGrp="1"/>
          </p:cNvSpPr>
          <p:nvPr/>
        </p:nvSpPr>
        <p:spPr>
          <a:xfrm>
            <a:off x="8305800" y="2247900"/>
            <a:ext cx="2781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/api/me returns safe identity, role, active status and department data when present. Staff accounts do not require a Student row.</a:t>
            </a:r>
          </a:p>
        </p:txBody>
      </p:sp>
    </p:spTree>
    <p:extLst>
      <p:ext uri="{BB962C8B-B14F-4D97-AF65-F5344CB8AC3E}">
        <p14:creationId xmlns:p14="http://schemas.microsoft.com/office/powerpoint/2010/main" val="843533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795C476-83CB-46AB-A76F-C8251F9FF2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6B2299-1CE6-48B2-9C18-A936ED35165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0FAA7B-F6E6-4EF3-8B4E-67D8FCD9AB40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drive management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E90BDA5-E644-4CD1-9970-7CD344F8E14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BC429-1D32-4498-AC40-55BEE029D202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077617-2B71-4CCD-87B9-196AF6DB4E2F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C16EF3F-624B-4151-9C67-3E576D627137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905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E1938-76A4-457E-A05D-B422C83578F9}"/>
              </a:ext>
            </a:extLst>
          </p:cNvPr>
          <p:cNvSpPr>
            <a:spLocks noGrp="1"/>
          </p:cNvSpPr>
          <p:nvPr/>
        </p:nvSpPr>
        <p:spPr>
          <a:xfrm>
            <a:off x="704850" y="2333625"/>
            <a:ext cx="1600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AD724-48B6-425F-892C-6DEDC5434C22}"/>
              </a:ext>
            </a:extLst>
          </p:cNvPr>
          <p:cNvSpPr>
            <a:spLocks noGrp="1"/>
          </p:cNvSpPr>
          <p:nvPr/>
        </p:nvSpPr>
        <p:spPr>
          <a:xfrm>
            <a:off x="704850" y="2733675"/>
            <a:ext cx="1600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or reuse a company record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5D41CE4-DDD7-4256-A4E7-8A09EB442C85}"/>
              </a:ext>
            </a:extLst>
          </p:cNvPr>
          <p:cNvSpPr>
            <a:spLocks noGrp="1"/>
          </p:cNvSpPr>
          <p:nvPr/>
        </p:nvSpPr>
        <p:spPr>
          <a:xfrm>
            <a:off x="2457450" y="2724150"/>
            <a:ext cx="409575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81BCE1E-6409-4784-9632-320EF3391331}"/>
              </a:ext>
            </a:extLst>
          </p:cNvPr>
          <p:cNvSpPr>
            <a:spLocks noGrp="1"/>
          </p:cNvSpPr>
          <p:nvPr/>
        </p:nvSpPr>
        <p:spPr>
          <a:xfrm>
            <a:off x="2867025" y="2095500"/>
            <a:ext cx="1905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2FBAC-1B13-40A8-A471-A7AEEAAF8183}"/>
              </a:ext>
            </a:extLst>
          </p:cNvPr>
          <p:cNvSpPr>
            <a:spLocks noGrp="1"/>
          </p:cNvSpPr>
          <p:nvPr/>
        </p:nvSpPr>
        <p:spPr>
          <a:xfrm>
            <a:off x="3019425" y="2333625"/>
            <a:ext cx="1600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CA3946-40A6-4E68-8383-FD5F2F1730F7}"/>
              </a:ext>
            </a:extLst>
          </p:cNvPr>
          <p:cNvSpPr>
            <a:spLocks noGrp="1"/>
          </p:cNvSpPr>
          <p:nvPr/>
        </p:nvSpPr>
        <p:spPr>
          <a:xfrm>
            <a:off x="3019425" y="2733675"/>
            <a:ext cx="1600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drive details and eligibility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A229602-EE74-478D-BEAB-227E36D9B13D}"/>
              </a:ext>
            </a:extLst>
          </p:cNvPr>
          <p:cNvSpPr>
            <a:spLocks noGrp="1"/>
          </p:cNvSpPr>
          <p:nvPr/>
        </p:nvSpPr>
        <p:spPr>
          <a:xfrm>
            <a:off x="4772025" y="2724150"/>
            <a:ext cx="409575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56DA9C6-CC75-4AEE-90CB-062EF8EAA01B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1905000" cy="1257300"/>
          </a:xfrm>
          <a:prstGeom prst="roundRect">
            <a:avLst>
              <a:gd name="adj" fmla="val 9091"/>
            </a:avLst>
          </a:prstGeom>
          <a:solidFill>
            <a:srgbClr val="1F5FA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817183-12D5-4544-A487-2AA5B8D7CDE6}"/>
              </a:ext>
            </a:extLst>
          </p:cNvPr>
          <p:cNvSpPr>
            <a:spLocks noGrp="1"/>
          </p:cNvSpPr>
          <p:nvPr/>
        </p:nvSpPr>
        <p:spPr>
          <a:xfrm>
            <a:off x="5334000" y="2333625"/>
            <a:ext cx="1600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76F358-FB6C-4701-8F6E-C9BCBA8DB38E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1600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7E8F7"/>
                </a:solidFill>
                <a:latin typeface="Arial"/>
                <a:ea typeface="Arial"/>
                <a:cs typeface="Arial"/>
              </a:rPr>
              <a:t>Staff publishes only a draft drive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59DDFE1-8FD0-40C0-A9EF-DCDE9E21CCA9}"/>
              </a:ext>
            </a:extLst>
          </p:cNvPr>
          <p:cNvSpPr>
            <a:spLocks noGrp="1"/>
          </p:cNvSpPr>
          <p:nvPr/>
        </p:nvSpPr>
        <p:spPr>
          <a:xfrm>
            <a:off x="7086600" y="2724150"/>
            <a:ext cx="409575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30EA2B7-80BE-42AD-B476-C681E7100BF2}"/>
              </a:ext>
            </a:extLst>
          </p:cNvPr>
          <p:cNvSpPr>
            <a:spLocks noGrp="1"/>
          </p:cNvSpPr>
          <p:nvPr/>
        </p:nvSpPr>
        <p:spPr>
          <a:xfrm>
            <a:off x="7496175" y="2095500"/>
            <a:ext cx="1905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E4A35F-199B-4F03-B30F-6DACBA47FAEB}"/>
              </a:ext>
            </a:extLst>
          </p:cNvPr>
          <p:cNvSpPr>
            <a:spLocks noGrp="1"/>
          </p:cNvSpPr>
          <p:nvPr/>
        </p:nvSpPr>
        <p:spPr>
          <a:xfrm>
            <a:off x="7648575" y="2333625"/>
            <a:ext cx="1600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D2011E-1C17-4F0F-A162-4035C16726C3}"/>
              </a:ext>
            </a:extLst>
          </p:cNvPr>
          <p:cNvSpPr>
            <a:spLocks noGrp="1"/>
          </p:cNvSpPr>
          <p:nvPr/>
        </p:nvSpPr>
        <p:spPr>
          <a:xfrm>
            <a:off x="7648575" y="2733675"/>
            <a:ext cx="1600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see eligible published drives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F1B787A-F053-4F8D-9ECF-ED79F6FD35D6}"/>
              </a:ext>
            </a:extLst>
          </p:cNvPr>
          <p:cNvSpPr>
            <a:spLocks noGrp="1"/>
          </p:cNvSpPr>
          <p:nvPr/>
        </p:nvSpPr>
        <p:spPr>
          <a:xfrm>
            <a:off x="9401175" y="2724150"/>
            <a:ext cx="409575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CE036A0-33B2-41F8-A148-1267DB033FC4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1905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FE5A6-C572-4052-90D1-3454BF313CA3}"/>
              </a:ext>
            </a:extLst>
          </p:cNvPr>
          <p:cNvSpPr>
            <a:spLocks noGrp="1"/>
          </p:cNvSpPr>
          <p:nvPr/>
        </p:nvSpPr>
        <p:spPr>
          <a:xfrm>
            <a:off x="9963150" y="2333625"/>
            <a:ext cx="1600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B20A52-6AC4-4557-B3CD-AEACC50ACCF3}"/>
              </a:ext>
            </a:extLst>
          </p:cNvPr>
          <p:cNvSpPr>
            <a:spLocks noGrp="1"/>
          </p:cNvSpPr>
          <p:nvPr/>
        </p:nvSpPr>
        <p:spPr>
          <a:xfrm>
            <a:off x="9963150" y="2733675"/>
            <a:ext cx="1600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Deadline and status stop new applications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0C92AC-52A3-4CD7-96E5-E2EFFCDAC0A1}"/>
              </a:ext>
            </a:extLst>
          </p:cNvPr>
          <p:cNvSpPr>
            <a:spLocks noGrp="1"/>
          </p:cNvSpPr>
          <p:nvPr/>
        </p:nvSpPr>
        <p:spPr>
          <a:xfrm>
            <a:off x="2238375" y="4476750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Eligibility uses department, program, graduation year, CGPA and configured backlog rules.</a:t>
            </a:r>
          </a:p>
        </p:txBody>
      </p:sp>
    </p:spTree>
    <p:extLst>
      <p:ext uri="{BB962C8B-B14F-4D97-AF65-F5344CB8AC3E}">
        <p14:creationId xmlns:p14="http://schemas.microsoft.com/office/powerpoint/2010/main" val="1556488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87ED803-10A8-42DB-AACF-1DAD1E8063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389A-423C-4D8F-94D8-14817724555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1191D-C867-430C-A78F-2837694750B5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application workflow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58957A8-1BE6-45B3-96ED-2AF4781F4248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77B04-E61B-488F-952C-72CE9C4D77F7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FBD820-12C3-4460-9C63-B6E2DC4448C6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3282E9C-FFC3-4424-9025-08305BA30CDC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2190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4EB32A-D71F-4FC3-964F-671772E9A277}"/>
              </a:ext>
            </a:extLst>
          </p:cNvPr>
          <p:cNvSpPr>
            <a:spLocks noGrp="1"/>
          </p:cNvSpPr>
          <p:nvPr/>
        </p:nvSpPr>
        <p:spPr>
          <a:xfrm>
            <a:off x="1543050" y="1790700"/>
            <a:ext cx="628650" cy="628650"/>
          </a:xfrm>
          <a:prstGeom prst="ellipse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276E31-325E-40D6-8006-3752B2FD220A}"/>
              </a:ext>
            </a:extLst>
          </p:cNvPr>
          <p:cNvSpPr>
            <a:spLocks noGrp="1"/>
          </p:cNvSpPr>
          <p:nvPr/>
        </p:nvSpPr>
        <p:spPr>
          <a:xfrm>
            <a:off x="1543050" y="1952625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0B4F1-7788-4FE0-9803-A6A2E004AA1B}"/>
              </a:ext>
            </a:extLst>
          </p:cNvPr>
          <p:cNvSpPr>
            <a:spLocks noGrp="1"/>
          </p:cNvSpPr>
          <p:nvPr/>
        </p:nvSpPr>
        <p:spPr>
          <a:xfrm>
            <a:off x="952500" y="26193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Browse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D753F-F784-4800-A33A-327F2D781041}"/>
              </a:ext>
            </a:extLst>
          </p:cNvPr>
          <p:cNvSpPr>
            <a:spLocks noGrp="1"/>
          </p:cNvSpPr>
          <p:nvPr/>
        </p:nvSpPr>
        <p:spPr>
          <a:xfrm>
            <a:off x="933450" y="30003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GET /api/placement/student/drives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CB78DA0-24BF-4EFD-8016-5A00118CDF7D}"/>
              </a:ext>
            </a:extLst>
          </p:cNvPr>
          <p:cNvSpPr>
            <a:spLocks noGrp="1"/>
          </p:cNvSpPr>
          <p:nvPr/>
        </p:nvSpPr>
        <p:spPr>
          <a:xfrm>
            <a:off x="2952750" y="2857500"/>
            <a:ext cx="5715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5E682C-3F45-4AA6-A576-06A48C231E3D}"/>
              </a:ext>
            </a:extLst>
          </p:cNvPr>
          <p:cNvSpPr>
            <a:spLocks noGrp="1"/>
          </p:cNvSpPr>
          <p:nvPr/>
        </p:nvSpPr>
        <p:spPr>
          <a:xfrm>
            <a:off x="3524250" y="2047875"/>
            <a:ext cx="2190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72B31E-E1F2-49D5-AD87-946E323EB7FD}"/>
              </a:ext>
            </a:extLst>
          </p:cNvPr>
          <p:cNvSpPr>
            <a:spLocks noGrp="1"/>
          </p:cNvSpPr>
          <p:nvPr/>
        </p:nvSpPr>
        <p:spPr>
          <a:xfrm>
            <a:off x="4305300" y="1790700"/>
            <a:ext cx="628650" cy="628650"/>
          </a:xfrm>
          <a:prstGeom prst="ellipse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0F54D5-1AE2-44EE-88EF-AD453758D18E}"/>
              </a:ext>
            </a:extLst>
          </p:cNvPr>
          <p:cNvSpPr>
            <a:spLocks noGrp="1"/>
          </p:cNvSpPr>
          <p:nvPr/>
        </p:nvSpPr>
        <p:spPr>
          <a:xfrm>
            <a:off x="4305300" y="1952625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DB2D78-DFBA-49F9-972F-F2D7C379ACD7}"/>
              </a:ext>
            </a:extLst>
          </p:cNvPr>
          <p:cNvSpPr>
            <a:spLocks noGrp="1"/>
          </p:cNvSpPr>
          <p:nvPr/>
        </p:nvSpPr>
        <p:spPr>
          <a:xfrm>
            <a:off x="3714750" y="26193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76CC6-A055-4CFD-8BA3-AE0E6AD8F4B5}"/>
              </a:ext>
            </a:extLst>
          </p:cNvPr>
          <p:cNvSpPr>
            <a:spLocks noGrp="1"/>
          </p:cNvSpPr>
          <p:nvPr/>
        </p:nvSpPr>
        <p:spPr>
          <a:xfrm>
            <a:off x="3695700" y="30003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View company, role, package and eligibility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4FB54A8-9172-487C-ADAA-FA04D80356C0}"/>
              </a:ext>
            </a:extLst>
          </p:cNvPr>
          <p:cNvSpPr>
            <a:spLocks noGrp="1"/>
          </p:cNvSpPr>
          <p:nvPr/>
        </p:nvSpPr>
        <p:spPr>
          <a:xfrm>
            <a:off x="5715000" y="2857500"/>
            <a:ext cx="5715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A6DEB75-4E3C-456E-8EEE-6CC073C1EA51}"/>
              </a:ext>
            </a:extLst>
          </p:cNvPr>
          <p:cNvSpPr>
            <a:spLocks noGrp="1"/>
          </p:cNvSpPr>
          <p:nvPr/>
        </p:nvSpPr>
        <p:spPr>
          <a:xfrm>
            <a:off x="6286500" y="2047875"/>
            <a:ext cx="2190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5F76D8-CE8A-402E-B68A-373D47466610}"/>
              </a:ext>
            </a:extLst>
          </p:cNvPr>
          <p:cNvSpPr>
            <a:spLocks noGrp="1"/>
          </p:cNvSpPr>
          <p:nvPr/>
        </p:nvSpPr>
        <p:spPr>
          <a:xfrm>
            <a:off x="7067550" y="1790700"/>
            <a:ext cx="628650" cy="628650"/>
          </a:xfrm>
          <a:prstGeom prst="ellipse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3D2EF8-84F3-49E7-8E4A-615594262C71}"/>
              </a:ext>
            </a:extLst>
          </p:cNvPr>
          <p:cNvSpPr>
            <a:spLocks noGrp="1"/>
          </p:cNvSpPr>
          <p:nvPr/>
        </p:nvSpPr>
        <p:spPr>
          <a:xfrm>
            <a:off x="7067550" y="1952625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AB3CC-BA70-4B88-B020-D4CFFA9B205B}"/>
              </a:ext>
            </a:extLst>
          </p:cNvPr>
          <p:cNvSpPr>
            <a:spLocks noGrp="1"/>
          </p:cNvSpPr>
          <p:nvPr/>
        </p:nvSpPr>
        <p:spPr>
          <a:xfrm>
            <a:off x="6477000" y="26193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C94F07-396C-4733-8BD6-C43E0AF248CC}"/>
              </a:ext>
            </a:extLst>
          </p:cNvPr>
          <p:cNvSpPr>
            <a:spLocks noGrp="1"/>
          </p:cNvSpPr>
          <p:nvPr/>
        </p:nvSpPr>
        <p:spPr>
          <a:xfrm>
            <a:off x="6457950" y="30003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POST application for an eligible published drive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505D019-9F6C-4394-81EF-0DEAC3D21F5B}"/>
              </a:ext>
            </a:extLst>
          </p:cNvPr>
          <p:cNvSpPr>
            <a:spLocks noGrp="1"/>
          </p:cNvSpPr>
          <p:nvPr/>
        </p:nvSpPr>
        <p:spPr>
          <a:xfrm>
            <a:off x="8477250" y="2857500"/>
            <a:ext cx="5715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85F7362-7B7E-4D18-8CDC-E4C02295FE0D}"/>
              </a:ext>
            </a:extLst>
          </p:cNvPr>
          <p:cNvSpPr>
            <a:spLocks noGrp="1"/>
          </p:cNvSpPr>
          <p:nvPr/>
        </p:nvSpPr>
        <p:spPr>
          <a:xfrm>
            <a:off x="9048750" y="2047875"/>
            <a:ext cx="2190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33BB855-638F-4531-B037-9BA905AD944D}"/>
              </a:ext>
            </a:extLst>
          </p:cNvPr>
          <p:cNvSpPr>
            <a:spLocks noGrp="1"/>
          </p:cNvSpPr>
          <p:nvPr/>
        </p:nvSpPr>
        <p:spPr>
          <a:xfrm>
            <a:off x="9829800" y="1790700"/>
            <a:ext cx="628650" cy="628650"/>
          </a:xfrm>
          <a:prstGeom prst="ellipse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E040E-94DE-46A0-AEB7-3214AA524493}"/>
              </a:ext>
            </a:extLst>
          </p:cNvPr>
          <p:cNvSpPr>
            <a:spLocks noGrp="1"/>
          </p:cNvSpPr>
          <p:nvPr/>
        </p:nvSpPr>
        <p:spPr>
          <a:xfrm>
            <a:off x="9829800" y="1952625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03412E-582C-4877-BCAF-83BF65E13559}"/>
              </a:ext>
            </a:extLst>
          </p:cNvPr>
          <p:cNvSpPr>
            <a:spLocks noGrp="1"/>
          </p:cNvSpPr>
          <p:nvPr/>
        </p:nvSpPr>
        <p:spPr>
          <a:xfrm>
            <a:off x="9239250" y="26193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E41E82-7AF5-4AF6-B8DB-987FD23AC48B}"/>
              </a:ext>
            </a:extLst>
          </p:cNvPr>
          <p:cNvSpPr>
            <a:spLocks noGrp="1"/>
          </p:cNvSpPr>
          <p:nvPr/>
        </p:nvSpPr>
        <p:spPr>
          <a:xfrm>
            <a:off x="9220200" y="30003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View own applications and progress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FCC56B-4BBB-4A84-B5FC-164BE96A712D}"/>
              </a:ext>
            </a:extLst>
          </p:cNvPr>
          <p:cNvSpPr>
            <a:spLocks noGrp="1"/>
          </p:cNvSpPr>
          <p:nvPr/>
        </p:nvSpPr>
        <p:spPr>
          <a:xfrm>
            <a:off x="2286000" y="48577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database unique constraint prevents duplicate applications for the same student and drive.</a:t>
            </a:r>
          </a:p>
        </p:txBody>
      </p:sp>
    </p:spTree>
    <p:extLst>
      <p:ext uri="{BB962C8B-B14F-4D97-AF65-F5344CB8AC3E}">
        <p14:creationId xmlns:p14="http://schemas.microsoft.com/office/powerpoint/2010/main" val="10998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80E15F6-269F-44AD-AF2B-A9EC25930D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ECF578-E454-4582-B9F0-A7DEBEBE1E4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RECRUITMENT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416AC-56C3-4AE8-9C9B-3F49976146BD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 round management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D2DB36E-25DC-42D9-BB03-F582F4809DC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DBFA1-D7AD-4A81-A67B-B2B26339DFEB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D5CBA-128A-434A-B7C9-764A1D5CE5CA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9BBAEB-1433-4EBD-9F21-0098D5C83F1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28600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17439F-19DC-49F2-B233-CA18A32E026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286000" cy="762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6B306D-4990-488E-966C-0028B3F8FDA5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9A2EB1-4629-472D-8149-876DA79A1213}"/>
              </a:ext>
            </a:extLst>
          </p:cNvPr>
          <p:cNvSpPr>
            <a:spLocks noGrp="1"/>
          </p:cNvSpPr>
          <p:nvPr/>
        </p:nvSpPr>
        <p:spPr>
          <a:xfrm>
            <a:off x="876300" y="2714625"/>
            <a:ext cx="190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named, ordered rounds</a:t>
            </a:r>
          </a:p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Mark one final round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5C33FAC-E855-489C-9627-D3B148EB3B71}"/>
              </a:ext>
            </a:extLst>
          </p:cNvPr>
          <p:cNvSpPr>
            <a:spLocks noGrp="1"/>
          </p:cNvSpPr>
          <p:nvPr/>
        </p:nvSpPr>
        <p:spPr>
          <a:xfrm>
            <a:off x="2971800" y="2781300"/>
            <a:ext cx="5715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84130F-D923-45A9-9E79-36DF53D4D161}"/>
              </a:ext>
            </a:extLst>
          </p:cNvPr>
          <p:cNvSpPr>
            <a:spLocks noGrp="1"/>
          </p:cNvSpPr>
          <p:nvPr/>
        </p:nvSpPr>
        <p:spPr>
          <a:xfrm>
            <a:off x="3543300" y="1809750"/>
            <a:ext cx="228600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E0849B-8B92-40E5-92F8-8C62976AAF6E}"/>
              </a:ext>
            </a:extLst>
          </p:cNvPr>
          <p:cNvSpPr>
            <a:spLocks noGrp="1"/>
          </p:cNvSpPr>
          <p:nvPr/>
        </p:nvSpPr>
        <p:spPr>
          <a:xfrm>
            <a:off x="3543300" y="1809750"/>
            <a:ext cx="2286000" cy="7620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5E0B6-80C9-4C15-8153-141D33E28BC2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E4CEC3-319C-4AED-89F5-37708B7BF203}"/>
              </a:ext>
            </a:extLst>
          </p:cNvPr>
          <p:cNvSpPr>
            <a:spLocks noGrp="1"/>
          </p:cNvSpPr>
          <p:nvPr/>
        </p:nvSpPr>
        <p:spPr>
          <a:xfrm>
            <a:off x="3733800" y="2714625"/>
            <a:ext cx="190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Candidates begin in Pending</a:t>
            </a:r>
          </a:p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Only passed students advance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E0D74BB-9C26-46FA-AFC2-DD224A9A5307}"/>
              </a:ext>
            </a:extLst>
          </p:cNvPr>
          <p:cNvSpPr>
            <a:spLocks noGrp="1"/>
          </p:cNvSpPr>
          <p:nvPr/>
        </p:nvSpPr>
        <p:spPr>
          <a:xfrm>
            <a:off x="5829300" y="2781300"/>
            <a:ext cx="5715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63A653-6BE2-4236-8320-AB25E2BAD004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28600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4D1406-ECE7-4EAE-9EF5-70D168216BF2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286000" cy="76200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00F402-0121-4D1E-B704-AF00EF45E3DF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9A9E84-2029-4C8C-9DCE-39A7D0090E4E}"/>
              </a:ext>
            </a:extLst>
          </p:cNvPr>
          <p:cNvSpPr>
            <a:spLocks noGrp="1"/>
          </p:cNvSpPr>
          <p:nvPr/>
        </p:nvSpPr>
        <p:spPr>
          <a:xfrm>
            <a:off x="6591300" y="2714625"/>
            <a:ext cx="190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Publish round results</a:t>
            </a:r>
          </a:p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see published outcomes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899F73D-9D63-4B85-8445-8B1D7D70FDF1}"/>
              </a:ext>
            </a:extLst>
          </p:cNvPr>
          <p:cNvSpPr>
            <a:spLocks noGrp="1"/>
          </p:cNvSpPr>
          <p:nvPr/>
        </p:nvSpPr>
        <p:spPr>
          <a:xfrm>
            <a:off x="8686800" y="2781300"/>
            <a:ext cx="571500" cy="9525"/>
          </a:xfrm>
          <a:prstGeom prst="line">
            <a:avLst/>
          </a:prstGeom>
          <a:noFill/>
          <a:ln w="28575">
            <a:solidFill>
              <a:srgbClr val="4CA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9EFDDFD-8C25-4006-B559-714E67A836AB}"/>
              </a:ext>
            </a:extLst>
          </p:cNvPr>
          <p:cNvSpPr>
            <a:spLocks noGrp="1"/>
          </p:cNvSpPr>
          <p:nvPr/>
        </p:nvSpPr>
        <p:spPr>
          <a:xfrm>
            <a:off x="9258300" y="1809750"/>
            <a:ext cx="228600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936CAB-2F78-4586-8147-DBD4E3354F2A}"/>
              </a:ext>
            </a:extLst>
          </p:cNvPr>
          <p:cNvSpPr>
            <a:spLocks noGrp="1"/>
          </p:cNvSpPr>
          <p:nvPr/>
        </p:nvSpPr>
        <p:spPr>
          <a:xfrm>
            <a:off x="9258300" y="1809750"/>
            <a:ext cx="2286000" cy="76200"/>
          </a:xfrm>
          <a:prstGeom prst="rect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256C33-59AB-436B-9309-9D8A18D201EE}"/>
              </a:ext>
            </a:extLst>
          </p:cNvPr>
          <p:cNvSpPr>
            <a:spLocks noGrp="1"/>
          </p:cNvSpPr>
          <p:nvPr/>
        </p:nvSpPr>
        <p:spPr>
          <a:xfrm>
            <a:off x="9429750" y="21431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72D4B-C883-4D03-9720-6FF9C3CF2FAF}"/>
              </a:ext>
            </a:extLst>
          </p:cNvPr>
          <p:cNvSpPr>
            <a:spLocks noGrp="1"/>
          </p:cNvSpPr>
          <p:nvPr/>
        </p:nvSpPr>
        <p:spPr>
          <a:xfrm>
            <a:off x="9448800" y="2714625"/>
            <a:ext cx="190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Record Selected or Not Selected</a:t>
            </a:r>
          </a:p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after a passed final round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BC391C-2270-450F-85F3-014E0A8E3F2A}"/>
              </a:ext>
            </a:extLst>
          </p:cNvPr>
          <p:cNvSpPr>
            <a:spLocks noGrp="1"/>
          </p:cNvSpPr>
          <p:nvPr/>
        </p:nvSpPr>
        <p:spPr>
          <a:xfrm>
            <a:off x="2333625" y="4762500"/>
            <a:ext cx="752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Structural edits are blocked after results exist, protecting the meaning of recorded outcomes.</a:t>
            </a:r>
          </a:p>
        </p:txBody>
      </p:sp>
    </p:spTree>
    <p:extLst>
      <p:ext uri="{BB962C8B-B14F-4D97-AF65-F5344CB8AC3E}">
        <p14:creationId xmlns:p14="http://schemas.microsoft.com/office/powerpoint/2010/main" val="125975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8D2D9C-7BB8-43B6-8E57-284E6F277C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61EE8A-292F-43F4-900B-EEBDA52DA3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STAFF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3FFAB-4321-4C14-B28A-4EC73B6521E6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UTPO and DTPO dashboards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A6FED73-8A2D-471B-B6F7-56D5476141F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77AC53-E230-4269-8EA7-23441E2D8C12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B9584F-3702-4A9E-A62B-74D2EB2FB48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C79AF6-9461-49C0-A5EF-53BD96B79C2E}"/>
              </a:ext>
            </a:extLst>
          </p:cNvPr>
          <p:cNvGraphicFramePr/>
          <p:nvPr/>
        </p:nvGraphicFramePr>
        <p:xfrm>
          <a:off x="609600" y="1619250"/>
          <a:ext cx="10972800" cy="3333750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UTPO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DTPO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Companies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 within staff authorization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Placement drives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University-wide access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Assigned department scope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Coordinators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 DTPO accounts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No coordinator administration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Round management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endpoints available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controls for department drives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91E3B08-4494-4402-8E0E-608CB635BC2D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The dashboard is connected to real APIs for existing placement data. Round UI is present in source; final live verification depends on the V5 schema.</a:t>
            </a:r>
          </a:p>
        </p:txBody>
      </p:sp>
    </p:spTree>
    <p:extLst>
      <p:ext uri="{BB962C8B-B14F-4D97-AF65-F5344CB8AC3E}">
        <p14:creationId xmlns:p14="http://schemas.microsoft.com/office/powerpoint/2010/main" val="41728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CC4B18-C632-4EB6-BC96-82C01FFAFB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EDDACF-D87E-4092-9EE7-92A20CB97C3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QUALITY CHECKS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FB1471-DDBC-452A-B05E-477916FD4894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Testing and verification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05D69AB-FA8F-4CE8-9267-379D7449845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73296-A788-4F83-9E28-8D6DAFB74637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FB652-39F4-489C-ADAC-C580A8AFEDD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420EA5-09D3-43C9-BE37-2851EE43DB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6584365"/>
              </p:ext>
            </p:extLst>
          </p:nvPr>
        </p:nvGraphicFramePr>
        <p:xfrm>
          <a:off x="609600" y="1562100"/>
          <a:ext cx="10972800" cy="3476627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compile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Java 21 compile and test compilation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Focused Flutter tests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2 widget tests passed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Flutter analyze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PASS*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3 style infos only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type-check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ngc application check passed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test suite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FFF2DF"/>
                    </a:solidFill>
                  </a:tcPr>
                </a:tc>
                <a:tc>
                  <a:txBody>
                    <a:bodyPr/>
                    <a:lstStyle/>
                    <a:p>
                      <a:endParaRPr sz="1050" b="0" dirty="0">
                        <a:solidFill>
                          <a:srgbClr val="5B6B7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production build</a:t>
                      </a:r>
                    </a:p>
                  </a:txBody>
                  <a:tcPr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FFF2DF"/>
                    </a:solidFill>
                  </a:tcPr>
                </a:tc>
                <a:tc>
                  <a:txBody>
                    <a:bodyPr/>
                    <a:lstStyle/>
                    <a:p>
                      <a:endParaRPr sz="1050" b="0" dirty="0">
                        <a:solidFill>
                          <a:srgbClr val="5B6B7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 cap="flat" cmpd="sng" algn="ctr">
                      <a:solidFill>
                        <a:srgbClr val="D6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020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237146B-C9D3-4202-ABAD-10A56DC103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B7E51-DAE0-4208-872A-DCF48D39436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REVIEW HONESTLY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FA9E54-EB1E-4FB9-9CED-883860B19B9D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 limitations and next steps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C4EF156-6CA4-4C4C-8874-A301021A7078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line">
            <a:avLst/>
          </a:prstGeom>
          <a:noFill/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709B6E-12FD-446E-BB0D-4FEFAEC9D79B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5E09C-9D20-40AE-A73D-B5BACF3BE24B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8E42A5-DD87-4947-BFED-00FD4BA73DF8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333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19AD74-A751-4552-9BD2-1DEA856ACFD8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57150" cy="1428750"/>
          </a:xfrm>
          <a:prstGeom prst="rect">
            <a:avLst/>
          </a:prstGeom>
          <a:solidFill>
            <a:srgbClr val="D794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E8BC8E-6400-416E-8E7E-D7D974C4C256}"/>
              </a:ext>
            </a:extLst>
          </p:cNvPr>
          <p:cNvSpPr>
            <a:spLocks noGrp="1"/>
          </p:cNvSpPr>
          <p:nvPr/>
        </p:nvSpPr>
        <p:spPr>
          <a:xfrm>
            <a:off x="819150" y="18383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Pending rollout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4129FE-E253-4AA9-9F5C-5F8BF2549268}"/>
              </a:ext>
            </a:extLst>
          </p:cNvPr>
          <p:cNvSpPr>
            <a:spLocks noGrp="1"/>
          </p:cNvSpPr>
          <p:nvPr/>
        </p:nvSpPr>
        <p:spPr>
          <a:xfrm>
            <a:off x="819150" y="2181225"/>
            <a:ext cx="2971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and validate V5 in PostgreSQL with a backup and Hibernate ddl-auto=validate.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5356CA-EB1A-41F0-B91B-245CA1B50337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05489-DC0E-448D-B84E-8A8383C41D04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57150" cy="1428750"/>
          </a:xfrm>
          <a:prstGeom prst="rect">
            <a:avLst/>
          </a:prstGeom>
          <a:solidFill>
            <a:srgbClr val="B649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5E7A38-C98B-4A1A-8AFD-21AB985D9265}"/>
              </a:ext>
            </a:extLst>
          </p:cNvPr>
          <p:cNvSpPr>
            <a:spLocks noGrp="1"/>
          </p:cNvSpPr>
          <p:nvPr/>
        </p:nvSpPr>
        <p:spPr>
          <a:xfrm>
            <a:off x="4638675" y="18383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Environment checks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0648F-C161-4177-9754-F4FC8C010D22}"/>
              </a:ext>
            </a:extLst>
          </p:cNvPr>
          <p:cNvSpPr>
            <a:spLocks noGrp="1"/>
          </p:cNvSpPr>
          <p:nvPr/>
        </p:nvSpPr>
        <p:spPr>
          <a:xfrm>
            <a:off x="4638675" y="2181225"/>
            <a:ext cx="2971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Run backend tests in an environment that supports Mockito agent attachment and complete the Angular production build.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EAC829-306F-4CDE-AFA9-3B3C25D6B3F5}"/>
              </a:ext>
            </a:extLst>
          </p:cNvPr>
          <p:cNvSpPr>
            <a:spLocks noGrp="1"/>
          </p:cNvSpPr>
          <p:nvPr/>
        </p:nvSpPr>
        <p:spPr>
          <a:xfrm>
            <a:off x="8248650" y="1666875"/>
            <a:ext cx="3333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620EC6-9505-475B-9509-AE7A6C2F9F1B}"/>
              </a:ext>
            </a:extLst>
          </p:cNvPr>
          <p:cNvSpPr>
            <a:spLocks noGrp="1"/>
          </p:cNvSpPr>
          <p:nvPr/>
        </p:nvSpPr>
        <p:spPr>
          <a:xfrm>
            <a:off x="8248650" y="1666875"/>
            <a:ext cx="57150" cy="1428750"/>
          </a:xfrm>
          <a:prstGeom prst="rect">
            <a:avLst/>
          </a:prstGeom>
          <a:solidFill>
            <a:srgbClr val="1F5FA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02F04-2BA2-465A-9B49-1004AE41124F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7BA771-B2C6-43EA-AFD2-B728AF9028EC}"/>
              </a:ext>
            </a:extLst>
          </p:cNvPr>
          <p:cNvSpPr>
            <a:spLocks noGrp="1"/>
          </p:cNvSpPr>
          <p:nvPr/>
        </p:nvSpPr>
        <p:spPr>
          <a:xfrm>
            <a:off x="8458200" y="2181225"/>
            <a:ext cx="2971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Configure approved academic years, departments and placement programs before realistic eligibility tests.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A22A87-9DAE-4B85-893B-56E4B09652CD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598539-A7CF-444E-97F4-8DF22A18B388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657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Round-level reporting and richer filters</a:t>
            </a:r>
          </a:p>
          <a:p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Operational notifications for students and staff</a:t>
            </a:r>
          </a:p>
          <a:p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Broader live integration and deployment verification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916051-BAD3-4890-AF96-35B65643D606}"/>
              </a:ext>
            </a:extLst>
          </p:cNvPr>
          <p:cNvSpPr>
            <a:spLocks noGrp="1"/>
          </p:cNvSpPr>
          <p:nvPr/>
        </p:nvSpPr>
        <p:spPr>
          <a:xfrm>
            <a:off x="7239000" y="4191000"/>
            <a:ext cx="3810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The current V1 avoids inventing outcomes, seed data or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238553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7CEEAD3-3DA2-4F27-BF3B-AB48B043E2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CA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1263A6-874F-4F10-9C66-79D69E1010AA}"/>
              </a:ext>
            </a:extLst>
          </p:cNvPr>
          <p:cNvSpPr>
            <a:spLocks noGrp="1"/>
          </p:cNvSpPr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123C6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A38ED-1184-4107-BDD7-9815FE513440}"/>
              </a:ext>
            </a:extLst>
          </p:cNvPr>
          <p:cNvSpPr>
            <a:spLocks noGrp="1"/>
          </p:cNvSpPr>
          <p:nvPr/>
        </p:nvSpPr>
        <p:spPr>
          <a:xfrm>
            <a:off x="800100" y="10096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CAMPUSHIRE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85185-99F3-4117-A4ED-8AAA2487CFBB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6191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placement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workflow.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Clearer progress.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B274D-B097-47E2-B7BE-8233FA2FC74F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552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7E8F7"/>
                </a:solidFill>
                <a:latin typeface="Arial"/>
                <a:ea typeface="Arial"/>
                <a:cs typeface="Arial"/>
              </a:rPr>
              <a:t>A secure foundation for the next stage of university placement operations.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B8C50-D5BD-4E8A-A2EC-D67DFCC9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91550" y="2190750"/>
            <a:ext cx="1285875" cy="1285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5E572-F19F-4795-BEAA-FE8BF882D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77450" y="2190750"/>
            <a:ext cx="1285875" cy="1285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5F6792-0972-49BE-8583-70B1262D0424}"/>
              </a:ext>
            </a:extLst>
          </p:cNvPr>
          <p:cNvSpPr>
            <a:spLocks noGrp="1"/>
          </p:cNvSpPr>
          <p:nvPr/>
        </p:nvSpPr>
        <p:spPr>
          <a:xfrm>
            <a:off x="8591550" y="38862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1FD1B0-8E34-45E7-982F-A3C8D2E7A6E3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D7F5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34903-C5F9-4C88-ADAC-9EF403DD16B7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063118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1933</Words>
  <Application>Microsoft Macintosh PowerPoint</Application>
  <DocSecurity>0</DocSecurity>
  <PresentationFormat>Widescreen</PresentationFormat>
  <Paragraphs>415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1</cp:revision>
  <dcterms:created xsi:type="dcterms:W3CDTF">2026-10-23T19:58:46Z</dcterms:created>
  <dcterms:modified xsi:type="dcterms:W3CDTF">2026-10-23T20:03:51Z</dcterms:modified>
</cp:coreProperties>
</file>