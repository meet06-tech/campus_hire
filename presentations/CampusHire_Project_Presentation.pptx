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720a9a71b84f0c" /><Relationship Type="http://schemas.openxmlformats.org/officeDocument/2006/relationships/extended-properties" Target="/docProps/app.xml" Id="R9a26b792e61b408d" /><Relationship Type="http://schemas.openxmlformats.org/officeDocument/2006/relationships/officeDocument" Target="/ppt/presentation.xml" Id="R2856cb71514d4a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00022027ba47c7"/>
  </p:sldMasterIdLst>
  <p:notesMasterIdLst>
    <p:notesMasterId xmlns:r="http://schemas.openxmlformats.org/officeDocument/2006/relationships" r:id="Rf636074c8c574572"/>
  </p:notesMasterIdLst>
  <p:sldIdLst>
    <p:sldId xmlns:r="http://schemas.openxmlformats.org/officeDocument/2006/relationships" id="256" r:id="Rd287ada390f747ea"/>
    <p:sldId xmlns:r="http://schemas.openxmlformats.org/officeDocument/2006/relationships" id="257" r:id="R723701d2669c404a"/>
    <p:sldId xmlns:r="http://schemas.openxmlformats.org/officeDocument/2006/relationships" id="258" r:id="R37682b011fbf4aff"/>
    <p:sldId xmlns:r="http://schemas.openxmlformats.org/officeDocument/2006/relationships" id="259" r:id="R1a584fd6f2014fcb"/>
    <p:sldId xmlns:r="http://schemas.openxmlformats.org/officeDocument/2006/relationships" id="260" r:id="R816c026b9c7a420e"/>
    <p:sldId xmlns:r="http://schemas.openxmlformats.org/officeDocument/2006/relationships" id="261" r:id="R3b777c9aaa9b49c1"/>
    <p:sldId xmlns:r="http://schemas.openxmlformats.org/officeDocument/2006/relationships" id="262" r:id="Ra2a34b49c8ba4dab"/>
    <p:sldId xmlns:r="http://schemas.openxmlformats.org/officeDocument/2006/relationships" id="263" r:id="Rc3565b994f25495f"/>
    <p:sldId xmlns:r="http://schemas.openxmlformats.org/officeDocument/2006/relationships" id="264" r:id="Rc22522ddcac443fc"/>
    <p:sldId xmlns:r="http://schemas.openxmlformats.org/officeDocument/2006/relationships" id="265" r:id="Rdad464a7b2524466"/>
    <p:sldId xmlns:r="http://schemas.openxmlformats.org/officeDocument/2006/relationships" id="266" r:id="R3e3bf226a3804a78"/>
    <p:sldId xmlns:r="http://schemas.openxmlformats.org/officeDocument/2006/relationships" id="267" r:id="Rf046fa647f68496b"/>
    <p:sldId xmlns:r="http://schemas.openxmlformats.org/officeDocument/2006/relationships" id="268" r:id="R05c92c9fd44f472a"/>
    <p:sldId xmlns:r="http://schemas.openxmlformats.org/officeDocument/2006/relationships" id="269" r:id="R35028f2406614ac2"/>
    <p:sldId xmlns:r="http://schemas.openxmlformats.org/officeDocument/2006/relationships" id="270" r:id="R9936dbd91c3a4e3f"/>
    <p:sldId xmlns:r="http://schemas.openxmlformats.org/officeDocument/2006/relationships" id="271" r:id="R895cb2940d284802"/>
    <p:sldId xmlns:r="http://schemas.openxmlformats.org/officeDocument/2006/relationships" id="272" r:id="R5786e755a0b441aa"/>
    <p:sldId xmlns:r="http://schemas.openxmlformats.org/officeDocument/2006/relationships" id="273" r:id="R27c47bb9fbab4d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180ae9607843be" /><Relationship Type="http://schemas.openxmlformats.org/officeDocument/2006/relationships/slideMaster" Target="/ppt/slideMasters/slideMaster1.xml" Id="Ra700022027ba47c7" /><Relationship Type="http://schemas.openxmlformats.org/officeDocument/2006/relationships/notesMaster" Target="/ppt/notesMasters/notesMaster1.xml" Id="Rf636074c8c574572" /><Relationship Type="http://schemas.openxmlformats.org/officeDocument/2006/relationships/presProps" Target="/ppt/presProps.xml" Id="Rab0f0b67c1c14718" /><Relationship Type="http://schemas.openxmlformats.org/officeDocument/2006/relationships/tableStyles" Target="/ppt/tableStyles.xml" Id="R37cd96de6a3b4dba" /><Relationship Type="http://schemas.openxmlformats.org/officeDocument/2006/relationships/slide" Target="/ppt/slides/slide1.xml" Id="Rd287ada390f747ea" /><Relationship Type="http://schemas.openxmlformats.org/officeDocument/2006/relationships/slide" Target="/ppt/slides/slide2.xml" Id="R723701d2669c404a" /><Relationship Type="http://schemas.openxmlformats.org/officeDocument/2006/relationships/slide" Target="/ppt/slides/slide3.xml" Id="R37682b011fbf4aff" /><Relationship Type="http://schemas.openxmlformats.org/officeDocument/2006/relationships/slide" Target="/ppt/slides/slide4.xml" Id="R1a584fd6f2014fcb" /><Relationship Type="http://schemas.openxmlformats.org/officeDocument/2006/relationships/slide" Target="/ppt/slides/slide5.xml" Id="R816c026b9c7a420e" /><Relationship Type="http://schemas.openxmlformats.org/officeDocument/2006/relationships/slide" Target="/ppt/slides/slide6.xml" Id="R3b777c9aaa9b49c1" /><Relationship Type="http://schemas.openxmlformats.org/officeDocument/2006/relationships/slide" Target="/ppt/slides/slide7.xml" Id="Ra2a34b49c8ba4dab" /><Relationship Type="http://schemas.openxmlformats.org/officeDocument/2006/relationships/slide" Target="/ppt/slides/slide8.xml" Id="Rc3565b994f25495f" /><Relationship Type="http://schemas.openxmlformats.org/officeDocument/2006/relationships/slide" Target="/ppt/slides/slide9.xml" Id="Rc22522ddcac443fc" /><Relationship Type="http://schemas.openxmlformats.org/officeDocument/2006/relationships/slide" Target="/ppt/slides/slide10.xml" Id="Rdad464a7b2524466" /><Relationship Type="http://schemas.openxmlformats.org/officeDocument/2006/relationships/slide" Target="/ppt/slides/slide11.xml" Id="R3e3bf226a3804a78" /><Relationship Type="http://schemas.openxmlformats.org/officeDocument/2006/relationships/slide" Target="/ppt/slides/slide12.xml" Id="Rf046fa647f68496b" /><Relationship Type="http://schemas.openxmlformats.org/officeDocument/2006/relationships/slide" Target="/ppt/slides/slide13.xml" Id="R05c92c9fd44f472a" /><Relationship Type="http://schemas.openxmlformats.org/officeDocument/2006/relationships/slide" Target="/ppt/slides/slide14.xml" Id="R35028f2406614ac2" /><Relationship Type="http://schemas.openxmlformats.org/officeDocument/2006/relationships/slide" Target="/ppt/slides/slide15.xml" Id="R9936dbd91c3a4e3f" /><Relationship Type="http://schemas.openxmlformats.org/officeDocument/2006/relationships/slide" Target="/ppt/slides/slide16.xml" Id="R895cb2940d284802" /><Relationship Type="http://schemas.openxmlformats.org/officeDocument/2006/relationships/slide" Target="/ppt/slides/slide17.xml" Id="R5786e755a0b441aa" /><Relationship Type="http://schemas.openxmlformats.org/officeDocument/2006/relationships/slide" Target="/ppt/slides/slide18.xml" Id="R27c47bb9fbab4d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dfda5bffdc4d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18bb2ef3474327" /><Relationship Type="http://schemas.openxmlformats.org/officeDocument/2006/relationships/notesMaster" Target="/ppt/notesMasters/notesMaster1.xml" Id="Rca0c47ec9d9946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74630a0ba94d7d" /><Relationship Type="http://schemas.openxmlformats.org/officeDocument/2006/relationships/notesMaster" Target="/ppt/notesMasters/notesMaster1.xml" Id="Rc26f23b4313949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3c5cfae5414543" /><Relationship Type="http://schemas.openxmlformats.org/officeDocument/2006/relationships/notesMaster" Target="/ppt/notesMasters/notesMaster1.xml" Id="R682be957a2584a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bd940f9c9e4118" /><Relationship Type="http://schemas.openxmlformats.org/officeDocument/2006/relationships/notesMaster" Target="/ppt/notesMasters/notesMaster1.xml" Id="R3a6c9d63c5a344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7e8db8cf5446f9" /><Relationship Type="http://schemas.openxmlformats.org/officeDocument/2006/relationships/notesMaster" Target="/ppt/notesMasters/notesMaster1.xml" Id="R2450ea302c5048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01db569ddc408f" /><Relationship Type="http://schemas.openxmlformats.org/officeDocument/2006/relationships/notesMaster" Target="/ppt/notesMasters/notesMaster1.xml" Id="Rcd8ec264bf244e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a29fa791b44263" /><Relationship Type="http://schemas.openxmlformats.org/officeDocument/2006/relationships/notesMaster" Target="/ppt/notesMasters/notesMaster1.xml" Id="R273765270f2447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85c47ae3494e99" /><Relationship Type="http://schemas.openxmlformats.org/officeDocument/2006/relationships/notesMaster" Target="/ppt/notesMasters/notesMaster1.xml" Id="Ra0fabaa8d8e743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156a8ec41a4f80" /><Relationship Type="http://schemas.openxmlformats.org/officeDocument/2006/relationships/notesMaster" Target="/ppt/notesMasters/notesMaster1.xml" Id="R985c14a096a646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734f0f26d349d8" /><Relationship Type="http://schemas.openxmlformats.org/officeDocument/2006/relationships/notesMaster" Target="/ppt/notesMasters/notesMaster1.xml" Id="R6dd4cfd7cfcf45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1070f1ef41464a" /><Relationship Type="http://schemas.openxmlformats.org/officeDocument/2006/relationships/notesMaster" Target="/ppt/notesMasters/notesMaster1.xml" Id="Re99c5b36359f4b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9bc96749884fbd" /><Relationship Type="http://schemas.openxmlformats.org/officeDocument/2006/relationships/notesMaster" Target="/ppt/notesMasters/notesMaster1.xml" Id="R0d4d26e9a2c84b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a944b984dc4b67" /><Relationship Type="http://schemas.openxmlformats.org/officeDocument/2006/relationships/notesMaster" Target="/ppt/notesMasters/notesMaster1.xml" Id="R081be97a1e6c4c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243df2154e439a" /><Relationship Type="http://schemas.openxmlformats.org/officeDocument/2006/relationships/notesMaster" Target="/ppt/notesMasters/notesMaster1.xml" Id="R23f0cc28968e4c1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d9f1496f5e846cf" /><Relationship Type="http://schemas.openxmlformats.org/officeDocument/2006/relationships/notesMaster" Target="/ppt/notesMasters/notesMaster1.xml" Id="R056790d8a8f14a5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6efde4637784f31" /><Relationship Type="http://schemas.openxmlformats.org/officeDocument/2006/relationships/notesMaster" Target="/ppt/notesMasters/notesMaster1.xml" Id="R4de496715b0e43c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6d6f9724b1b4710" /><Relationship Type="http://schemas.openxmlformats.org/officeDocument/2006/relationships/notesMaster" Target="/ppt/notesMasters/notesMaster1.xml" Id="R3800ed03eeea43d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3e41e4b2c9049c1" /><Relationship Type="http://schemas.openxmlformats.org/officeDocument/2006/relationships/notesMaster" Target="/ppt/notesMasters/notesMaster1.xml" Id="R76ed345db54340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CampusHire centralizes the placement journey for students and the university placement office. Source: repository README, backend controllers and current frontend structures.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system as a shared source of truth. Student and staff experiences use separate clients but the same backend contracts.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project motivation without claiming measured performance improvements. These are workflow problems the system is designed to address.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objectives summarize the implemented direction and the current recruitment-round milestone.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Comparison is qualitative and based on the project’s stated workflow goals. It does not claim measured improvements.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Role names are persisted as UTPO, DTPO and STUDENT. UTPO has no department assignment; DTPO requires 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Versions verified in the repository include Java 21 and Spring Boot 3.5.6. PostgreSQL is configured through environment variables.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reflects the actual repository structure: Flutter and Angular clients call the Spring Boot API, which persists to PostgreSQL.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Modules are derived from controllers, services, entity mappings and the two frontend clients.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table names include users, departments, students, companies, placement_drives, placement_applications, placement_drive_rounds and placement_round_results. The diagram emphasizes the placement relationships rather than every column.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reflects the implemented compatibility path: student enrollment login is preserved while staff login uses identifier/email and does not require a student profile.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backend distinguishes DRAFT, PUBLISHED, CLOSED, CANCELLED and ARCHIVED statuses. Students do not see drafts.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screens are Flutter-based. The backend remains the source of truth for eligibility and duplicate-application protection.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source includes the V5 migration and RecruitmentService. Database application and runtime validation remain a deployment step, not a claim of completion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during review: DTPO scope is enforced server-side. The current branch adds round controls but the migration still needs a controlled database rollout.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 reflect the current repository checks. The full backend suite is not counted as passed because the environment blocks Mockito’s Byte Buddy agent attachment.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Limitations are based on the current repository state and verification outputs. Separate source presence from live operational proof.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value: a shared, secure and traceable placement workflow. Invite questions about architecture, authorization and the round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124dbb13fe477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c5f79f063745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453d899e974d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944a20560148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20551f5252481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1356e46e0a42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82F29A-81A7-4549-A608-EC2DE27F54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356B26C-D53C-4BE6-9969-F4C165C1C39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AEC06A6-7C5D-4A3F-B008-A226065575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1AEF58-3CF9-4677-9E3D-2DEEF17334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CBA82FA-751E-4130-817C-82769B9496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242D9A-1738-4F72-A4DE-D8EC023FD9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D24BCA-51CA-4642-936E-30CA0AC297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FA9B69F-C347-4C98-917A-130969A7C9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F04AB8-5EE2-48CF-8DE5-ACD9F63428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257931-B09A-4FCE-BED2-3C95F858C6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6f227505714acb" /><Relationship Type="http://schemas.openxmlformats.org/officeDocument/2006/relationships/slideLayout" Target="/ppt/slideLayouts/slideLayout1.xml" Id="R9ec761277bbf4a5a" /><Relationship Type="http://schemas.openxmlformats.org/officeDocument/2006/relationships/slideLayout" Target="/ppt/slideLayouts/slideLayout2.xml" Id="R3bf85206882d4e21" /><Relationship Type="http://schemas.openxmlformats.org/officeDocument/2006/relationships/slideLayout" Target="/ppt/slideLayouts/slideLayout3.xml" Id="R00e3995e3e6e4265" /><Relationship Type="http://schemas.openxmlformats.org/officeDocument/2006/relationships/slideLayout" Target="/ppt/slideLayouts/slideLayout4.xml" Id="R6676aec929b84134" /><Relationship Type="http://schemas.openxmlformats.org/officeDocument/2006/relationships/slideLayout" Target="/ppt/slideLayouts/slideLayout5.xml" Id="R736230e2586045e4" /><Relationship Type="http://schemas.openxmlformats.org/officeDocument/2006/relationships/slideLayout" Target="/ppt/slideLayouts/slideLayout6.xml" Id="R0533edd47f2645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c761277bbf4a5a"/>
    <p:sldLayoutId xmlns:r="http://schemas.openxmlformats.org/officeDocument/2006/relationships" id="2147483650" r:id="R3bf85206882d4e21"/>
    <p:sldLayoutId xmlns:r="http://schemas.openxmlformats.org/officeDocument/2006/relationships" id="2147483651" r:id="R00e3995e3e6e4265"/>
    <p:sldLayoutId xmlns:r="http://schemas.openxmlformats.org/officeDocument/2006/relationships" id="2147483652" r:id="R6676aec929b84134"/>
    <p:sldLayoutId xmlns:r="http://schemas.openxmlformats.org/officeDocument/2006/relationships" id="2147483653" r:id="R736230e2586045e4"/>
    <p:sldLayoutId xmlns:r="http://schemas.openxmlformats.org/officeDocument/2006/relationships" id="2147483654" r:id="R0533edd47f2645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55744791b344be" /><Relationship Type="http://schemas.openxmlformats.org/officeDocument/2006/relationships/image" Target="/ppt/media/image.jpeg" Id="R6b760cbcff764670" /><Relationship Type="http://schemas.openxmlformats.org/officeDocument/2006/relationships/image" Target="/ppt/media/image2.jpeg" Id="R482605cd83f74db9" /><Relationship Type="http://schemas.openxmlformats.org/officeDocument/2006/relationships/notesSlide" Target="/ppt/notesSlides/notesSlide1.xml" Id="R149ca96876bc46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1b4b208d47439e" /><Relationship Type="http://schemas.openxmlformats.org/officeDocument/2006/relationships/notesSlide" Target="/ppt/notesSlides/notesSlide2.xml" Id="R6e4d828c3cb34d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f456e4376c4328" /><Relationship Type="http://schemas.openxmlformats.org/officeDocument/2006/relationships/notesSlide" Target="/ppt/notesSlides/notesSlide3.xml" Id="R67e4e2346b2f44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0e8e248a06404b" /><Relationship Type="http://schemas.openxmlformats.org/officeDocument/2006/relationships/notesSlide" Target="/ppt/notesSlides/notesSlide4.xml" Id="Rf322a661699f4f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719fe43e244225" /><Relationship Type="http://schemas.openxmlformats.org/officeDocument/2006/relationships/notesSlide" Target="/ppt/notesSlides/notesSlide5.xml" Id="Rba2e3cf022af41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c0b47b71d04a51" /><Relationship Type="http://schemas.openxmlformats.org/officeDocument/2006/relationships/notesSlide" Target="/ppt/notesSlides/notesSlide6.xml" Id="Rdb396fa92fb44b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0bb5fe73dc495c" /><Relationship Type="http://schemas.openxmlformats.org/officeDocument/2006/relationships/notesSlide" Target="/ppt/notesSlides/notesSlide7.xml" Id="R4b088e6bdf6849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a11ca4c3964e75" /><Relationship Type="http://schemas.openxmlformats.org/officeDocument/2006/relationships/notesSlide" Target="/ppt/notesSlides/notesSlide8.xml" Id="R76726199c10a45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462be51f2b4853" /><Relationship Type="http://schemas.openxmlformats.org/officeDocument/2006/relationships/notesSlide" Target="/ppt/notesSlides/notesSlide9.xml" Id="R68fde78df7c143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d8a1ead1564570" /><Relationship Type="http://schemas.openxmlformats.org/officeDocument/2006/relationships/notesSlide" Target="/ppt/notesSlides/notesSlide10.xml" Id="Rf037a6251d504a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429aa18fa64c48" /><Relationship Type="http://schemas.openxmlformats.org/officeDocument/2006/relationships/notesSlide" Target="/ppt/notesSlides/notesSlide11.xml" Id="Ra1857b616f0f4a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a0c8dc8f024d24" /><Relationship Type="http://schemas.openxmlformats.org/officeDocument/2006/relationships/notesSlide" Target="/ppt/notesSlides/notesSlide12.xml" Id="Rb84b012ebdfa4e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4a1950d5ca4611" /><Relationship Type="http://schemas.openxmlformats.org/officeDocument/2006/relationships/notesSlide" Target="/ppt/notesSlides/notesSlide13.xml" Id="R9ae32f49c4b64c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ebfc8d8d524d26" /><Relationship Type="http://schemas.openxmlformats.org/officeDocument/2006/relationships/notesSlide" Target="/ppt/notesSlides/notesSlide14.xml" Id="R84ec84d3cbd14f8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c24578b62f4b1a" /><Relationship Type="http://schemas.openxmlformats.org/officeDocument/2006/relationships/notesSlide" Target="/ppt/notesSlides/notesSlide15.xml" Id="Ra1e40423a9084e2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61c63bce26469f" /><Relationship Type="http://schemas.openxmlformats.org/officeDocument/2006/relationships/notesSlide" Target="/ppt/notesSlides/notesSlide16.xml" Id="Re9fbdf97cf2c43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65a926aabf47d7" /><Relationship Type="http://schemas.openxmlformats.org/officeDocument/2006/relationships/notesSlide" Target="/ppt/notesSlides/notesSlide17.xml" Id="R2505914b744a4fb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708e0829bf49e2" /><Relationship Type="http://schemas.openxmlformats.org/officeDocument/2006/relationships/image" Target="/ppt/media/image3.jpeg" Id="Rc062da23477c461a" /><Relationship Type="http://schemas.openxmlformats.org/officeDocument/2006/relationships/image" Target="/ppt/media/image4.jpeg" Id="R3e344a54a0c74f80" /><Relationship Type="http://schemas.openxmlformats.org/officeDocument/2006/relationships/notesSlide" Target="/ppt/notesSlides/notesSlide18.xml" Id="Rfe1910f2184540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E59CF-9BE2-462C-AB17-47BA685C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A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D3999-69DE-40A2-B3B4-56C6E231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6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DF57A-0D06-4C02-B031-769B8D3337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60cbcff764670"/>
          <a:stretch xmlns:a="http://schemas.openxmlformats.org/drawingml/2006/main"/>
        </p:blipFill>
        <p:spPr>
          <a:xfrm xmlns:a="http://schemas.openxmlformats.org/drawingml/2006/main">
            <a:off x="781050" y="495300"/>
            <a:ext cx="1047750" cy="104775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20C62-EE62-483A-9D56-00F8561561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605cd83f74db9"/>
          <a:stretch xmlns:a="http://schemas.openxmlformats.org/drawingml/2006/main"/>
        </p:blipFill>
        <p:spPr>
          <a:xfrm xmlns:a="http://schemas.openxmlformats.org/drawingml/2006/main">
            <a:off x="2000250" y="495300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F6E91-EA9C-4B8A-B798-D032957F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D7F5"/>
                </a:solidFill>
                <a:latin typeface="Arial"/>
                <a:ea typeface="Arial"/>
                <a:cs typeface="Arial"/>
              </a:rPr>
              <a:t>CAMPUSHIRE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CCF93-126E-4269-BAA1-8877B066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Placement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28786-09D1-45C7-A1E3-F6ACDF96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D7E8F7"/>
                </a:solidFill>
                <a:latin typeface="Arial"/>
                <a:ea typeface="Arial"/>
                <a:cs typeface="Arial"/>
              </a:rPr>
              <a:t>A unified platform for student placement discovery, coordination, applications and recruitment progress.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D7BC6-A901-4224-91EC-243BA817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CHARUSAT University · CMPICA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45837-91C2-48F7-8907-57939500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A9D7F5"/>
                </a:solidFill>
                <a:latin typeface="Arial"/>
                <a:ea typeface="Arial"/>
                <a:cs typeface="Arial"/>
              </a:rPr>
              <a:t>Project review presentation · 2026–27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091203-350F-4AAF-AE80-A7697A0B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D7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459949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187557-EC89-4AED-AE4C-634D90E5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6FF74-F578-4532-910A-E4131893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5A838-EB47-4741-8D6E-1C155086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Placement coordination in one workspace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D43CF-699E-49CF-A96C-6A530421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B09C0-E4D9-45B0-B8F0-6C5749CE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1F9B4-020F-4AB8-89B2-8BF8C75F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45FF7-B553-423E-B5CD-E0205CA0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676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CampusHire connects the people, records and decisions involved in campus recruitment.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310DE-0834-438D-8441-430AD015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143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892465-1023-48ED-B224-EDF11788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A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9C0ED-0C33-4838-85D7-5D532AAA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For students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326588-B277-4B98-9872-0E082376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27813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Discover eligible published drives</a:t>
            </a:r>
          </a:p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Apply once per drive</a:t>
            </a:r>
          </a:p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Track applications and round progress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10600B-AD9B-46D2-AF0C-38F3BF48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71750"/>
            <a:ext cx="3143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A81B66-1845-4114-918F-AC775815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717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EFAEF5-0794-410A-9E46-73F38C5B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7432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For department TPOs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51EBAF-161C-4B50-9670-401F6464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086100"/>
            <a:ext cx="27813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Create and publish department drives</a:t>
            </a:r>
          </a:p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Manage candidates and recruitment rounds</a:t>
            </a:r>
          </a:p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Keep scope inside the assigned department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96B08F-0D1C-4022-AA97-89FECF50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71750"/>
            <a:ext cx="3143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A858F4-F365-44FE-AFBA-2B8AF7CD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717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D4C14-0578-4D88-B3FD-88B96408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432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For the university TPO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E41F1D-80C4-4702-B61B-D6F2E924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86100"/>
            <a:ext cx="27813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Coordinate university-wide activity</a:t>
            </a:r>
          </a:p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Manage department coordinators</a:t>
            </a:r>
          </a:p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See cross-department placement data</a:t>
            </a:r>
          </a:p>
        </p:txBody>
      </p:sp>
    </p:spTree>
    <p:extLst>
      <p:ext uri="{BB962C8B-B14F-4D97-AF65-F5344CB8AC3E}">
        <p14:creationId xmlns:p14="http://schemas.microsoft.com/office/powerpoint/2010/main" val="19073681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B25542-8F2D-4DA0-8C97-AFFB5074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15D91-9C68-43AC-A63A-5DE5574B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SYSTEM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5FFA5-3107-4C26-8155-38BEF628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placement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8C6BC-6EB6-45BF-AE4C-DBC74BC3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086C0-C471-475A-9F06-396927EA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AB273-B654-4412-82D1-651F2EE7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26B60-BAF1-4491-8356-AFDC727C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Manual coordination spreads information across messages, spreadsheets and separate records.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2186B-3C04-4843-BA78-7867F950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5CF79-879F-4C0A-A9E3-534454A8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430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C2CF4-CF87-4C92-A782-0213A1A1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383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Fragmented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59FA2-2DB0-413E-AC05-DF4A2292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Company, drive and student information can drift apart.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1064F-EFDA-482E-A64C-748D820D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59DB88-75FF-44A4-B0B4-07BA215A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841B40-AE14-4FA1-89F6-F2AD1306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384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Unclear eligibility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529C78-DAF2-4456-8788-95127FF1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241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Students need a reliable answer about which drives they can see.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0CED2E-1EBA-4029-8334-9FDE2575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D7104D-77C0-4BC8-AF4E-5DB0996A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43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A85BFE-0D4F-48AC-A87D-2A81E6B1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385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Department boundaries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C555CF-0629-422C-BB80-6A38679C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243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DTPO work must remain limited to the assigned department.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63402D-3950-40E2-85D8-293BD3BC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0ACEEE-6AD1-468E-A8C7-F0D1FACA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43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A5E892-0E15-4726-883B-9924B42F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386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Slow status updates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A28462-634D-48C5-85B4-346DCB69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244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Students need visibility into applications and round outcomes.</a:t>
            </a:r>
          </a:p>
        </p:txBody>
      </p:sp>
    </p:spTree>
    <p:extLst>
      <p:ext uri="{BB962C8B-B14F-4D97-AF65-F5344CB8AC3E}">
        <p14:creationId xmlns:p14="http://schemas.microsoft.com/office/powerpoint/2010/main" val="481911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8E13B7-AD99-4C9B-B642-E3F8A934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0CBAB-C3E1-44F7-96EF-306D5F22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F592A-0D08-4F5C-9455-283F2A95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Project objectives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08F51-786D-4E5F-BEE3-B9F6E78D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1E232-D8C2-4407-BE6E-312B5C38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D339F-C336-4EB2-9561-52B6F20D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ACA84-369D-4F0F-9324-C34F0535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143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02B86-C1BF-4FB5-A70B-281CACB4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A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6C675-7C3B-4036-9754-0D27BF71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01 · Secure identity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77BB2-7BC4-4A40-A2F6-D8DA1B11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4781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Support students, DTPOs and UTPOs with JWT authentication and role-aware access.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74B7E-D334-4A39-B869-7BDD12FD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19250"/>
            <a:ext cx="5143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8F0C4-F3B2-44A4-888D-4809FE3E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192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7D5734-966F-477D-A8E6-43D1B6E4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79070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02 · Structured placement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75B73-6509-4A1C-8ED9-C7FF159E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33600"/>
            <a:ext cx="4781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Keep companies, drives, applications and outcomes connected in PostgreSQL.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9E910-74F7-46DE-B776-BBE7C12C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143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81F76-7AC7-4C2A-BA1F-1AB7932B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78A1AB-F67B-41FC-AEFD-8411A096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03 · Department-aware 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FBE4FE-B780-4435-8484-AEBD4D07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4781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Enforce DTPO scope in backend services, not only in the UI.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8963E1-A6AF-43DA-87D5-E324B3F7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429000"/>
            <a:ext cx="5143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EAD675-1F18-48D2-A747-9BAC97B4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42900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4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CFD63D-A26E-4C07-9259-C269E362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0045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04 · Transparent progress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2FC5B2-3378-42F2-94CA-7C40C8FF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943350"/>
            <a:ext cx="4781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Expose published recruitment results to the student who owns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2853955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23E24-8371-426C-9F0A-0DB923C9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3035D-478D-4829-BA91-DB2165C6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SYSTEM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2E3DE-B075-41A5-A009-0821DB6D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Existing workflow and proposed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852B9-8537-4FA2-9C44-5B9C009A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E8959-F3DD-438E-A745-AC3E48A6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65896-A5F0-40DB-A462-2061FAF9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38B5A-98A6-431D-AA3B-C00BD877ECFC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57600"/>
                <a:gridCol w="3657600"/>
                <a:gridCol w="3657600"/>
              </a:tblGrid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Fragmented workflow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CampusHire approach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Student discovery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Messages and scattered notices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Published drives filtered by eligibility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Applications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Separate forms or records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One application per student and drive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Staff scope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Manual department filtering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Backend authorization for DTPO and UTPO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Recruitment progress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Status updates are difficult to trace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Ordered rounds with publishable results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Reporting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Repeated manual compilation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Live staff lists and dashboard aggregates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55340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BD462-44AD-4832-8373-4BE436F0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9593D-2D32-4803-8E2F-091C08EE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SCOPE AND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42B7C-F0B5-4BC7-B960-6F3B19D9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Roles and access boundaries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42304-C406-4AB7-A3B3-802BA451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66CD8-3199-4AA5-926C-5BB11603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D6808-685B-4284-963F-A597B077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532C32-4FE9-412A-A654-5FADBE9FE96C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43200"/>
                <a:gridCol w="2743200"/>
                <a:gridCol w="2743200"/>
                <a:gridCol w="2743200"/>
              </a:tblGrid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1F5F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 view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1F5F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Management scope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1F5F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Student-facing effect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1F5FA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STUDENT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Flutter app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Own profile and applications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Sees eligible published drives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DTPO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Angular dashboard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Assigned department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Creates department drives and manages rounds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UTPO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Angular dashboard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University-wide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Manages coordinators and university-wide activity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111AF-E4A4-49F2-8639-EA7E2F65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server derives scope from the authenticated account and its department assignment.</a:t>
            </a:r>
          </a:p>
        </p:txBody>
      </p:sp>
    </p:spTree>
    <p:extLst>
      <p:ext uri="{BB962C8B-B14F-4D97-AF65-F5344CB8AC3E}">
        <p14:creationId xmlns:p14="http://schemas.microsoft.com/office/powerpoint/2010/main" val="5729950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3F6BD1-90A9-4B47-A659-D8328717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ED6F7-1C85-4BF9-B480-D2EEC9C9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A94DE-DB6B-40E2-A8F6-E93C98F5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Technology 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EF869-01E1-4AD6-9C09-7DE26CF8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4BE3B-E386-4FAD-94C9-BF42337D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A1699-8FF8-42E5-839A-5806A2B8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E7480-2DAA-4291-90DF-335FAC82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247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954CF-CE56-4B09-8629-979FED87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47825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Flutter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BB975-B3E3-475A-8555-F0237176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00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Student mobile experience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A5E091-7BEF-4F46-9912-D08D8DD8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002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Student drives, applications and profile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F61D5-901A-43D0-958F-A2839B40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19275"/>
            <a:ext cx="2190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AE46D-823C-441D-96EF-915FB138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247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239A46-221A-4DAF-9BE2-9FF84C9C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Angular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0B14D1-1420-4AF8-BBCA-68282763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384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Staff workspace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6F9134-5706-4753-BA9A-8015871D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UTPO and DTPO dashboards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70AFCF-2BD2-48FC-B28D-FC60EAEC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57475"/>
            <a:ext cx="2190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1DE7F7-959F-450B-A4D9-17D3395B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2247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626E70-C84B-4949-9C37-E4EB3964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Spring Boot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EEAE88-D295-4D5A-BEC7-5E2AEF9C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766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REST API and business rules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16941D-4F8F-497D-8A0D-DD3D3D54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766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Authentication, placement and recruitment services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1656CC-310E-4E8A-BB36-575F1F9A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95675"/>
            <a:ext cx="2190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4F1662-3715-4BC7-B4AD-41583B41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2247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62A792-4AEA-4209-A472-C0930631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62425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C175C5-B2A6-4446-9BDD-0199B76D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148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Persistent data store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1F28D7-EE73-445C-A84F-43EBE7F9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148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Users, departments, drives, applications and results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2B10DF-21EF-4F77-B364-9A9F5948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33875"/>
            <a:ext cx="2190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D089A9-DAAD-4A3C-9545-AB0CAC39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2247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331AC0-3FC6-4326-8C09-D388F741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00625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JWT + BCrypt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B62FC5-20FF-446F-8ED5-50E9C0AD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530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Security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114171-4190-4604-891A-F618DA1B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Signed sessions and password hashing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F85695-13EB-4F4C-9D51-3C3007F7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72075"/>
            <a:ext cx="2190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185925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09476F-6522-40DC-A9B1-44F54C05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41879-5466-47B8-95E6-A2F2F919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EE714-A1CD-4991-B981-124A5507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06040-6913-4C14-8D11-665BED73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BFC2A-2656-4040-9F16-169A959D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F971D-41CF-4C7B-AEF9-9183720A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6D113-2428-4CDD-AAB6-8C07830E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571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183CC-F647-4018-9EFA-C9982185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Student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674CE-EE9D-4F6F-973B-B07839EA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F5FAF"/>
                </a:solidFill>
                <a:latin typeface="Arial"/>
                <a:ea typeface="Arial"/>
                <a:cs typeface="Arial"/>
              </a:rPr>
              <a:t>Flutter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38B388-27DA-4D97-A065-CACC38CB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571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031FD-5D46-4DE3-B589-B1B901F1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Staff workspace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A40A10-2AC1-4310-9DF6-61646881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F5FAF"/>
                </a:solidFill>
                <a:latin typeface="Arial"/>
                <a:ea typeface="Arial"/>
                <a:cs typeface="Arial"/>
              </a:rPr>
              <a:t>Angular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7E09D-BF8B-4C84-91DB-AC150601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2571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D37C1-85D3-4908-9DD8-013E601C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8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REST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00BBF0-FE32-43D9-84D8-D2E52399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528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F5FAF"/>
                </a:solidFill>
                <a:latin typeface="Arial"/>
                <a:ea typeface="Arial"/>
                <a:cs typeface="Arial"/>
              </a:rPr>
              <a:t>Spring Boot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F70CC9-F611-4AC3-BBD3-BE394136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2571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6F42B0-5358-4DD8-AC1B-F8C4073B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5359CE-68F0-4935-9030-229DDDD9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528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F5FA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1F33A9-F6EC-4A02-AEF9-641EA99E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47900"/>
            <a:ext cx="1143000" cy="1019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C07018-5DB1-44E9-96E4-82C141FC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33900"/>
            <a:ext cx="114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F97607-B994-41C2-B22E-E0FDE6D2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95650"/>
            <a:ext cx="1238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448E56-6EAB-4816-95D9-9085DECD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098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B7F"/>
                </a:solidFill>
                <a:latin typeface="Arial"/>
                <a:ea typeface="Arial"/>
                <a:cs typeface="Arial"/>
              </a:rPr>
              <a:t>JWT-secured HTTP requests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09CBD7-9628-4E4E-ADCC-9F0880D4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71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B7F"/>
                </a:solidFill>
                <a:latin typeface="Arial"/>
                <a:ea typeface="Arial"/>
                <a:cs typeface="Arial"/>
              </a:rPr>
              <a:t>JPA repositories and migrations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78F546-9173-4F5A-81A6-F389C15B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7212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clients stay thin: visibility, eligibility and authorization are enforced by the backend.</a:t>
            </a:r>
          </a:p>
        </p:txBody>
      </p:sp>
    </p:spTree>
    <p:extLst>
      <p:ext uri="{BB962C8B-B14F-4D97-AF65-F5344CB8AC3E}">
        <p14:creationId xmlns:p14="http://schemas.microsoft.com/office/powerpoint/2010/main" val="8364405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49F90C-6005-4B95-ADBB-F7091B7F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3E9DE-CF0E-4F16-A712-84323313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SYSTEM MODULES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98147-F00A-4C25-B0EC-78E1DFE5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Functional modules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F0D35-4DA3-4E45-8B29-54DF5F1A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370BF-5C7C-43F5-8DEB-35E56FDA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22A4A-7937-412C-B732-789D317D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E9D14-4065-4162-A462-D2F85567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333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2D0CEB-BB53-4205-BFD7-8AFE2852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A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2A4FC-6C41-4073-99E1-6B0CD1CE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BBB48-4597-4FEF-A085-E8A7E518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Registration, login, JWT, /api/me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F66EE6-48FF-4EEA-B7ED-0A5C7396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19250"/>
            <a:ext cx="3333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4DB74B-58D9-4A78-9827-2A8C67ED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192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FB6DA-AE96-41FE-BA69-28CC7458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907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Student profile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0F4172-23E0-44F3-A814-6DA58942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336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Profile details and photo storage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DDD60-0345-4050-9C75-CAE8115D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0"/>
            <a:ext cx="3333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F6321F-39AE-4F9C-B402-FAB92697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4EA4D8-E2A0-495F-BF39-73547EC2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Companies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CB637F-7E5E-4150-B08E-61E97549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336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Staff-managed company records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E1E4F1-8FAF-41F0-8345-1E59E6A6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333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58F286-AA81-4164-B1C5-E3B74886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4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9CCCA7-A7E6-4E0C-A0A7-04241EEF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Placement drives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5C6947-42FF-4337-8701-11CFCDE9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Draft, publish, eligibility and visibility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8EDEC5-29B3-49C6-BBDD-63AA6CFE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52750"/>
            <a:ext cx="3333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A07F73-DF66-4199-B69D-E819D85B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527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9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D0F109-7216-4CDC-B2B6-82F151B6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242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Applications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C055FD-CFA6-4A21-8A06-075E1EB1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671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Apply once and view status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A97F30-E611-471E-9DE0-71E5C06B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52750"/>
            <a:ext cx="3333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879AC0-9C1B-4130-A982-689339C0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527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A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E56BB3-9BE9-485B-A72A-C5DB7715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242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Recruitment rounds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EBCD63-5CBA-4CD8-9BED-9C76B9CE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671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Ordered rounds, results and progression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743F47-B993-423B-92B3-9E10D917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3333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BD703F-A8FF-48B2-95EC-0A130579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4123EA-CB6A-4D68-8BE3-5267ED83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Dashboards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59B126-A9DF-4BEA-AA2D-B18526F1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UTPO/DTPO operations and aggregates</a:t>
            </a:r>
          </a:p>
        </p:txBody>
      </p:sp>
    </p:spTree>
    <p:extLst>
      <p:ext uri="{BB962C8B-B14F-4D97-AF65-F5344CB8AC3E}">
        <p14:creationId xmlns:p14="http://schemas.microsoft.com/office/powerpoint/2010/main" val="13805653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13A79E-1718-4CEC-8CF3-CA2FD602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F2742-396D-4182-B9D2-2A56BF21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DATA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5507F-9BB6-4349-A75A-0B26DC27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382B6-BE63-4D66-A372-C11A5FCC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02D7A-6A3F-4F96-8097-7A21AF3C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7CEA3-F40F-4D92-9714-455D458C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4D4AD-A0AB-44BE-8B28-465CF4AC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8C679-8518-43F4-A950-676A07AF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52599-6938-4201-BA81-605C5252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user_id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role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department_id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9FD97-D66D-4DF6-AF9C-C0423610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51B94C-64A8-4F16-8071-2BE7EAD1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departments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AE580-94EF-4103-9D99-D11B35EE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department_id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name / 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77E47-7176-4397-99E2-319AF612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2425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90272-ABFD-4DB2-A286-31AE952B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195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students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DE28F0-F4AE-4AFB-BBDB-3FD9A35E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86200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student_id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enrollment / program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B2FCDF-E9D5-45D1-8B2A-42AAA06D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61F915-85D4-4735-B804-AD610228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145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companies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3A7F6D-DCE2-49C4-A083-3F3000D9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81200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company_id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company_name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F79237-AD27-44C7-BF1A-FCF07466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512FB6-1389-4CE1-9D62-270D5BC4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195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placement_drives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93698E-F0D5-47FD-A80A-5D0CBAB8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drive_id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status / eligibility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36EC01-7590-4183-AB22-3702C014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2425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EF5063-21F3-4AA1-ABDC-76D5BD73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195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placement_applications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F426E9-53B5-4650-BFF8-1F1C6E15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886200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application_id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student / drive /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1AB066-29D7-4E68-AEB2-5B4211FA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2925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620A54-F987-4A12-8DBD-0886E3DF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245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placement_drive_rounds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C2936A-D404-471F-A58A-ABA733B9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791200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round_id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order / published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B7914-D8AC-46C1-ADC2-1007DC99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2925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4FDE4D-D25D-469B-B6C8-91C8F499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5245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placement_round_results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BC0F8A-041B-4961-A544-7CC8EE33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791200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round_result_id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result / recorder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990C98-F506-4722-96D1-EBBD624A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57450"/>
            <a:ext cx="9525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33C2C2-3955-448C-BADE-D4CA39DC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43350"/>
            <a:ext cx="1714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E125FB-CC29-4B62-B04F-EC3A31AF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43350"/>
            <a:ext cx="381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DE8F24-5DFB-4327-959C-4D127D55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57450"/>
            <a:ext cx="9525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929E76-FA8D-4680-9252-CAE0D4D6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43350"/>
            <a:ext cx="85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996007-5F89-4319-82DE-8F644742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62450"/>
            <a:ext cx="9525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275DB4-FEE8-422B-AE6B-AB71E5DA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62450"/>
            <a:ext cx="9525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9DC295-3760-4E1E-BEF1-2C03DCB7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848350"/>
            <a:ext cx="1047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843463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02AB4B-2734-4D6C-89FC-75A25668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E299B-6FA0-43B5-84C5-135E6CDC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EEF35-8707-4A6B-BE69-EFA16FE5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Authentication and user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2ECDB-6F80-4C21-8E88-B5CB4893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779F8-9B0F-42D5-8019-48333FC4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71FBB-0D34-4CFB-BCAF-12681141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303BA-85FA-4D8A-9CED-EAF95E56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EE6C0-DCFD-491C-A393-36628ED4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42510-5503-4416-8812-D13AADCA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335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13D7D-E67C-4AC0-8CA0-296669E7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04975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Student uses enrollment number. Staff uses university email.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F907A-0BCC-46D0-9969-067DCD8E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19325"/>
            <a:ext cx="9525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6A00D-C0B3-4DA8-B117-10D4768B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D10D6-4741-4F62-B7B8-21AB97D6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845D2-D4D3-4DA7-9E1F-1B2DD451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38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2A846B-92B1-447D-83F2-CDF0CC20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098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BCrypt checks the stored password. Disabled or unsupported accounts fail closed.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F0150A-7D4C-49FB-BDD5-B08CE579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9525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7BB14F-1D6A-41A7-892E-3E9FCEBD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A623A4-4D64-4784-9728-704EF6B0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80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2F7942-E793-4025-8ABB-7058D1D2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33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Issue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E053C5-36CE-4CD6-82F7-BBF4205C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14725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JWT carries the authenticated identity and role context.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F8451C-F926-40DD-B338-E1D56367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9525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F30B19-425B-4FD9-BA6D-23CBA1F9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B98666-FBE6-444B-8AF8-1E86350A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C57537-31DF-46E7-B890-B5F26CA3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481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Reload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3B099E-A775-482B-8F60-5EFE69F8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196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Protected services reload the account and use current role/active state.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B29D4B-33B3-4D08-930F-35177D27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33550"/>
            <a:ext cx="3143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CD75E2-DB20-4337-A4B4-7CA9788D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335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988E4D-D4F6-4B6D-A810-335D6E58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050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Current-user contract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D7C12C-DDCF-448C-ABE1-CB7EEB91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47900"/>
            <a:ext cx="2781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/api/me returns safe identity, role, active status and department data when present. Staff accounts do not require a Student row.</a:t>
            </a:r>
          </a:p>
        </p:txBody>
      </p:sp>
    </p:spTree>
    <p:extLst>
      <p:ext uri="{BB962C8B-B14F-4D97-AF65-F5344CB8AC3E}">
        <p14:creationId xmlns:p14="http://schemas.microsoft.com/office/powerpoint/2010/main" val="12441759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C4E085-5466-4B9F-B074-C2CE15A5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F2CE5-14C2-4409-A266-24AEC8FE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PLACEMENT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3A05B-792E-47EB-9A06-0F3E8183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Placement drive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C182C-0C3E-4EE4-8018-72575C2D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1417A-1192-4166-9DAC-81D84611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1D9F9-5ACD-4E10-9D5F-92352526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262705-5B08-4E1D-AAA8-8B25BD63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1905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1E132-6165-474D-8BD1-B81A1128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Company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B7840-577E-4A77-B7CE-AABCA1EA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33675"/>
            <a:ext cx="1600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Create or reuse a company 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DE7EB-B6D2-49AE-A441-AFAD1AEC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24150"/>
            <a:ext cx="4095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32767-4222-46D8-876D-9F3D4D8E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095500"/>
            <a:ext cx="1905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3C38DA-638D-4851-A07B-6A1DA1FA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333625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Draft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0259E4-BE09-4A49-A096-005A415D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733675"/>
            <a:ext cx="1600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Create drive details and eligibility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A03398-7B12-411A-9025-898772D6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724150"/>
            <a:ext cx="4095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5945D-D01C-4DC0-939D-29442AF8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95500"/>
            <a:ext cx="1905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F5FA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49773F-4F26-454A-883A-C2E17BB7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33625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108C36-2809-4772-A6FD-6510DDC1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33675"/>
            <a:ext cx="1600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D7E8F7"/>
                </a:solidFill>
                <a:latin typeface="Arial"/>
                <a:ea typeface="Arial"/>
                <a:cs typeface="Arial"/>
              </a:rPr>
              <a:t>Staff publishes only a draft drive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6C0E1D-6044-47CE-B45B-5F8FF6DD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24150"/>
            <a:ext cx="4095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C814B4-6CE7-47F8-B86E-C2FCE6CD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095500"/>
            <a:ext cx="1905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E53225-16FA-4696-8778-E343885D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333625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Visible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47BF98-C699-4E96-A3FC-29036987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733675"/>
            <a:ext cx="1600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Students see eligible published drives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48D4A1-1F77-4555-8F0E-5CC8EA14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724150"/>
            <a:ext cx="4095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DA4169-E4FD-4E70-977F-8017193D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0"/>
            <a:ext cx="1905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8F0BB3-267F-4FCC-B666-2C2105B6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33625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Close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BD8D0C-59DF-4098-97CE-1F7B7500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33675"/>
            <a:ext cx="1600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Deadline and status stop new applications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FB80CF-DE92-444B-91D5-F4BE74F4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76750"/>
            <a:ext cx="771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Eligibility uses department, program, graduation year, CGPA and configured backlog rules.</a:t>
            </a:r>
          </a:p>
        </p:txBody>
      </p:sp>
    </p:spTree>
    <p:extLst>
      <p:ext uri="{BB962C8B-B14F-4D97-AF65-F5344CB8AC3E}">
        <p14:creationId xmlns:p14="http://schemas.microsoft.com/office/powerpoint/2010/main" val="11096120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3A51C7-E88E-4850-95FB-3A4055A1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41030-2958-4958-BF59-361E9AB2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STUDENT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30A39-C0D8-4AB2-B849-BC9C0D1A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Student application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964E0A-00CC-42DA-9FB9-5DD283BD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3ABDE-CD28-4D2A-87B9-A1FE1A6F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FAAB9-3042-49BC-B3AA-532D1B7D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B998F-2FE5-448A-B406-B89BC5B2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92EDA-DB79-4639-9675-C4794905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907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A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4C13C-CBDA-4BAB-A83A-A1C6965D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9526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EF55A-9876-45C1-B152-89EA2D23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Browse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5478A-A10D-4E66-8F5B-0B6FCD86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B7F"/>
                </a:solidFill>
                <a:latin typeface="Arial"/>
                <a:ea typeface="Arial"/>
                <a:cs typeface="Arial"/>
              </a:rPr>
              <a:t>GET /api/placement/student/drives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2E0052-846C-4F17-AAEB-DED5665D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57500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FFAE9-FF36-4911-A620-326D305A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47875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2CC462-7A48-4605-A6B7-3B80CE12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0D3164-C0D7-4041-A50A-85004E42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C77E6C-F385-410F-9DA3-1F45081F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19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F0585-39D6-4467-A5EF-0897E79B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00375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B7F"/>
                </a:solidFill>
                <a:latin typeface="Arial"/>
                <a:ea typeface="Arial"/>
                <a:cs typeface="Arial"/>
              </a:rPr>
              <a:t>View company, role, package and eligibility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D83868-D1E8-4C49-8923-F76096B4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261E42-F96C-4568-915B-2BF68FF6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7A613F-EFAB-4472-8196-E5E6D6B5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907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44565E-F7FC-42A7-99C2-57FE10A0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526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79E381-CC27-4EF8-BC84-114655BA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19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Apply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D6D789-D784-4F03-AECB-D6155E61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0375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B7F"/>
                </a:solidFill>
                <a:latin typeface="Arial"/>
                <a:ea typeface="Arial"/>
                <a:cs typeface="Arial"/>
              </a:rPr>
              <a:t>POST application for an eligible published drive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12348C-AE18-4E42-8391-C351C1B2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57500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C12FBF-BF58-4714-89B3-4E5A2D60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47875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4BDB99-03CD-43FE-8B36-164350C9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7907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94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5B051C-60BA-472B-8A19-15FF63DE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526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D920FD-73AD-4D05-9D1C-FF4A26E7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19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Track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3A5CBF-3BF6-4310-A4C9-526A4AC3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00375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B7F"/>
                </a:solidFill>
                <a:latin typeface="Arial"/>
                <a:ea typeface="Arial"/>
                <a:cs typeface="Arial"/>
              </a:rPr>
              <a:t>View own applications and progress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A6A5E9-3394-455F-8BAC-A2233CA7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57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database unique constraint prevents duplicate applications for the same student and drive.</a:t>
            </a:r>
          </a:p>
        </p:txBody>
      </p:sp>
    </p:spTree>
    <p:extLst>
      <p:ext uri="{BB962C8B-B14F-4D97-AF65-F5344CB8AC3E}">
        <p14:creationId xmlns:p14="http://schemas.microsoft.com/office/powerpoint/2010/main" val="16175720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AFA3EB-3637-4D0D-879D-39F9E2EF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89F8A-2EA2-4BF0-A0CD-497856B0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RECRUITMENT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F938B-8243-452C-BC77-F1EE3435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Recruitment round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C4F9C-9DF8-4400-A94B-3D621EB5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C3155-15E5-4D96-A4CF-4853428B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E7978D-86C3-49D5-A9CB-11CD2CC5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E9136-7BD7-45F7-8D17-0F22CAD8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2860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4CC84-87AD-41A7-86DA-CD6BE4CC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A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8268F-D72D-4C7E-9E26-CD43727D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Configure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847F83-F6A9-4A0C-B322-D1534D59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Create named, ordered rounds</a:t>
            </a:r>
          </a:p>
          <a:p xmlns:a="http://schemas.openxmlformats.org/drawingml/2006/main"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Mark one final round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0011B0-4818-4A13-A532-64D5094F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9A3E6-5E97-4490-9F8D-281754F3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09750"/>
            <a:ext cx="22860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D42F50-3D6B-4E0D-873F-7C935AC1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0975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00840D-3E29-41B2-BF9E-6C35623D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431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663B7F-CD1A-4BC8-B77C-5F328F9E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14625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Candidates begin in Pending</a:t>
            </a:r>
          </a:p>
          <a:p xmlns:a="http://schemas.openxmlformats.org/drawingml/2006/main"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Only passed students advance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345705-D2B2-4CEE-911A-B576C2E3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81300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7B8F29-0CD7-41C1-BC21-09C993D3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9750"/>
            <a:ext cx="22860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24EE5-8E83-414C-A02F-B7DBA44B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975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50CC8C-3CE9-4A1D-A661-F6301E35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Publish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4849ED-610B-4C0F-8798-716146F5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14625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Publish round results</a:t>
            </a:r>
          </a:p>
          <a:p xmlns:a="http://schemas.openxmlformats.org/drawingml/2006/main"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Students see published outcomes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B3A76D-7D1C-470A-BDFA-107EEB01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1300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140972-67E9-410B-BE8B-CAA25056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09750"/>
            <a:ext cx="22860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84D7B6-AEC5-4A12-904E-B59E8045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0975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4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CDB14E-B4B4-4F80-AFE1-95B45A95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431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C487AC-F28F-43C4-9105-5381DF16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14625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Record Selected or Not Selected</a:t>
            </a:r>
          </a:p>
          <a:p xmlns:a="http://schemas.openxmlformats.org/drawingml/2006/main"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after a passed final round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E69FCD-82DC-41B3-815E-BDBB8C25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76250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Structural edits are blocked after results exist, protecting the meaning of recorded outcomes.</a:t>
            </a:r>
          </a:p>
        </p:txBody>
      </p:sp>
    </p:spTree>
    <p:extLst>
      <p:ext uri="{BB962C8B-B14F-4D97-AF65-F5344CB8AC3E}">
        <p14:creationId xmlns:p14="http://schemas.microsoft.com/office/powerpoint/2010/main" val="15765811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22CED-3316-4A79-ABF5-9EE4BE96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2ED33-A8C4-4C28-955B-FE6ABA24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STAFF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F688D-B682-4EA8-B174-16D7D1FE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UTPO and DTPO dashboards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F9BD8-008F-4511-AD9A-4CD533A7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8A870-2EBA-43F7-B2D5-8FCB7005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19B1F-100C-4224-A183-E357A0A0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299D9-1709-41C0-BD66-45E4992A31C8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57600"/>
                <a:gridCol w="3657600"/>
                <a:gridCol w="3657600"/>
              </a:tblGrid>
              <a:tr h="666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Capability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UTPO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DTPO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Companies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Create and list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Create and list within staff authorization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Placement drives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University-wide access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Assigned department scope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Coordinators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Create and list DTPO accounts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No coordinator administration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Round management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Backend endpoints available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Angular controls for department drives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09AA3-37E8-4E42-8E21-999A3AA6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The dashboard is connected to real APIs for existing placement data. Round UI is present in source; final live verification depends on the V5 schema.</a:t>
            </a:r>
          </a:p>
        </p:txBody>
      </p:sp>
    </p:spTree>
    <p:extLst>
      <p:ext uri="{BB962C8B-B14F-4D97-AF65-F5344CB8AC3E}">
        <p14:creationId xmlns:p14="http://schemas.microsoft.com/office/powerpoint/2010/main" val="18313174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4EBAA-2D45-4586-89F0-A24C8324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F2B28-28B4-4815-AED5-E88C834A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QUALITY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A44C4-9CCD-4938-828D-8E71E8DB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Testing and 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9C53D-5C96-4985-B6CC-85A6AF1A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F43F9-83A3-4ADA-8360-3EEE70E3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3600E-3E09-47EF-B8C5-0AC3A18A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A088C-D26D-4FB2-AFAD-7AEC29EC7F9F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57600"/>
                <a:gridCol w="3657600"/>
                <a:gridCol w="3657600"/>
              </a:tblGrid>
              <a:tr h="49666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1F5F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1F5F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1F5FA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Backend compile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Java 21 compile and test compilation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Focused Flutter tests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2 widget tests passed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Flutter analyze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PASS*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3 style infos only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Angular type-check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ngc application check passed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Backend test suite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BLOCKED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FFF2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Mockito / Byte Buddy agent attachment in local environment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Angular production build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BLOCKED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FFF2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Node process exited 134 in local environment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26CBF-5C3A-4934-9702-657334E4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64949"/>
                </a:solidFill>
                <a:latin typeface="Arial"/>
                <a:ea typeface="Arial"/>
                <a:cs typeface="Arial"/>
              </a:rPr>
              <a:t>No claim of live V5 database verification is made in this deck.</a:t>
            </a:r>
          </a:p>
        </p:txBody>
      </p:sp>
    </p:spTree>
    <p:extLst>
      <p:ext uri="{BB962C8B-B14F-4D97-AF65-F5344CB8AC3E}">
        <p14:creationId xmlns:p14="http://schemas.microsoft.com/office/powerpoint/2010/main" val="9513392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969781-AEF1-4F64-842F-2FFCBEFE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43CE4-4366-4C4D-BC28-2EFB10C2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REVIEW HONESTLY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2187C-3309-4D6B-907B-BF598759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Current limitations and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B7963-5E69-47A4-815F-BFB6D3ED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7897F-FF2C-4FD9-8154-773DEB79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3C82A-FD71-46B0-88EC-C31518B2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FC473-6AE0-4F57-B0BD-1E99FE7E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8E04DE-4C46-4245-906B-23A5C55B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4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6B10B-2767-4E96-A400-5E13B344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3832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Pending rollout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51ABD-289B-46EA-99FE-188EC0C2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81225"/>
            <a:ext cx="2971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Apply and validate V5 in PostgreSQL with a backup and Hibernate ddl-auto=validate.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DAC6D-737F-4247-A6B3-B230815D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DA4086-9575-4918-A818-C79A1225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9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9E562A-B1A4-4D7B-92E8-DB5F43CF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83832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Environment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49ACC0-10A1-4B12-BFD3-43979A00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81225"/>
            <a:ext cx="2971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Run backend tests in an environment that supports Mockito agent attachment and complete the Angular production build.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F10896-9267-4F4D-992D-F056EB4D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66875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C5E21-9EED-4B72-A7AF-E5496255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66875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338EFC-3AB7-432C-9133-3C97172E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3832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E677C6-303D-4712-A061-35DB4E8F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81225"/>
            <a:ext cx="2971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Configure approved academic years, departments and placement programs before realistic eligibility tests.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11139D-798F-46BE-ADD5-FF597058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Future enhancements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61E730-BF5B-4C66-921E-46A59B82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7F"/>
                </a:solidFill>
                <a:latin typeface="Arial"/>
                <a:ea typeface="Arial"/>
                <a:cs typeface="Arial"/>
              </a:rPr>
              <a:t>• Round-level reporting and richer filters</a:t>
            </a:r>
          </a:p>
          <a:p xmlns:a="http://schemas.openxmlformats.org/drawingml/2006/main">
            <a: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7F"/>
                </a:solidFill>
                <a:latin typeface="Arial"/>
                <a:ea typeface="Arial"/>
                <a:cs typeface="Arial"/>
              </a:rPr>
              <a:t>• Operational notifications for students and staff</a:t>
            </a:r>
          </a:p>
          <a:p xmlns:a="http://schemas.openxmlformats.org/drawingml/2006/main">
            <a: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7F"/>
                </a:solidFill>
                <a:latin typeface="Arial"/>
                <a:ea typeface="Arial"/>
                <a:cs typeface="Arial"/>
              </a:rPr>
              <a:t>• Broader live integration and deployment verification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7ED91E-4475-416A-9BB5-2E924134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91000"/>
            <a:ext cx="381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The current V1 avoids inventing outcomes, seed data or performance metrics.</a:t>
            </a:r>
          </a:p>
        </p:txBody>
      </p:sp>
    </p:spTree>
    <p:extLst>
      <p:ext uri="{BB962C8B-B14F-4D97-AF65-F5344CB8AC3E}">
        <p14:creationId xmlns:p14="http://schemas.microsoft.com/office/powerpoint/2010/main" val="697650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3CE33-ECC1-4147-BA8A-1CF59053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A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15D13-040E-4BB8-AD47-3EB56D95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EBE93-9754-49C6-A6F1-AA0B19BE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096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D7F5"/>
                </a:solidFill>
                <a:latin typeface="Arial"/>
                <a:ea typeface="Arial"/>
                <a:cs typeface="Arial"/>
              </a:rPr>
              <a:t>CAMPUSHIRE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86ADA-12F2-4AE2-A14B-53F8958D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619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placement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workflow.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Clearer progress.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BDFDA-70C7-4B64-9AD0-87608707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D7E8F7"/>
                </a:solidFill>
                <a:latin typeface="Arial"/>
                <a:ea typeface="Arial"/>
                <a:cs typeface="Arial"/>
              </a:rPr>
              <a:t>A secure foundation for the next stage of university placement operations.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22CAC-F1B5-4AA2-95CD-A53ED41F4B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2da23477c461a"/>
          <a:stretch xmlns:a="http://schemas.openxmlformats.org/drawingml/2006/main"/>
        </p:blipFill>
        <p:spPr>
          <a:xfrm xmlns:a="http://schemas.openxmlformats.org/drawingml/2006/main">
            <a:off x="8591550" y="2190750"/>
            <a:ext cx="1285875" cy="128587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C9856-E007-4703-A4E4-4ABD67EC20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44a54a0c74f80"/>
          <a:stretch xmlns:a="http://schemas.openxmlformats.org/drawingml/2006/main"/>
        </p:blipFill>
        <p:spPr>
          <a:xfrm xmlns:a="http://schemas.openxmlformats.org/drawingml/2006/main">
            <a:off x="10077450" y="2190750"/>
            <a:ext cx="1285875" cy="1285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248E7-1BD6-406D-92D1-E4FBA366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862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2FEF6-C6D3-4583-A369-EA9ED8A9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243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9D7F5"/>
                </a:solidFill>
                <a:latin typeface="Arial"/>
                <a:ea typeface="Arial"/>
                <a:cs typeface="Arial"/>
              </a:rPr>
              <a:t>Questions and discussion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CD3252-0A53-4E14-A127-E1EAE34E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D7F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602889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2026-10-23T19:40:30.3970000Z</dcterms:created>
  <dcterms:modified xsi:type="dcterms:W3CDTF">2026-10-23T19:40:30.3970000Z</dcterms:modified>
</coreProperties>
</file>